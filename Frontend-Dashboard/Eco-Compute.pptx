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png"/>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9" r:id="rId3"/>
    <p:sldId id="263" r:id="rId4"/>
    <p:sldId id="264" r:id="rId5"/>
    <p:sldId id="266" r:id="rId6"/>
    <p:sldId id="265"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CEB"/>
    <a:srgbClr val="33CCCC"/>
    <a:srgbClr val="00CC99"/>
    <a:srgbClr val="008080"/>
    <a:srgbClr val="DDFFFF"/>
    <a:srgbClr val="BDFFDB"/>
    <a:srgbClr val="FFFFFF"/>
    <a:srgbClr val="C9FFFF"/>
    <a:srgbClr val="00FF99"/>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A09B04-BD9A-43A9-8F3E-347452466FB0}" v="29" dt="2025-07-16T11:44:46.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94660"/>
  </p:normalViewPr>
  <p:slideViewPr>
    <p:cSldViewPr snapToGrid="0">
      <p:cViewPr varScale="1">
        <p:scale>
          <a:sx n="103" d="100"/>
          <a:sy n="103" d="100"/>
        </p:scale>
        <p:origin x="11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02F238-9ADB-4DCD-8B9E-44CF15D6A3A8}" type="datetimeFigureOut">
              <a:rPr lang="en-IN" smtClean="0"/>
              <a:t>02/02/2026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69C442-3224-4268-9E05-0E62698D2803}" type="slidenum">
              <a:rPr lang="en-IN" smtClean="0"/>
              <a:t>‹#›</a:t>
            </a:fld>
            <a:endParaRPr lang="en-IN"/>
          </a:p>
        </p:txBody>
      </p:sp>
    </p:spTree>
    <p:extLst>
      <p:ext uri="{BB962C8B-B14F-4D97-AF65-F5344CB8AC3E}">
        <p14:creationId xmlns:p14="http://schemas.microsoft.com/office/powerpoint/2010/main" val="3181042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9C442-3224-4268-9E05-0E62698D2803}" type="slidenum">
              <a:rPr lang="en-IN" smtClean="0"/>
              <a:t>4</a:t>
            </a:fld>
            <a:endParaRPr lang="en-IN"/>
          </a:p>
        </p:txBody>
      </p:sp>
    </p:spTree>
    <p:extLst>
      <p:ext uri="{BB962C8B-B14F-4D97-AF65-F5344CB8AC3E}">
        <p14:creationId xmlns:p14="http://schemas.microsoft.com/office/powerpoint/2010/main" val="2156398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4D779-02AF-83F8-BA7E-8C08AAB1EF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5D9AAE-CC9A-9919-B317-E2EC2DC22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DFA8BBF-D596-F7C0-0F18-511A48354B16}"/>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DB0FB068-9B15-C57B-A8AC-91B66A67AA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2A042-69E5-3256-BFCD-173F8AAA01C5}"/>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409184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5C9CB-D213-256B-E5F6-05EDB3DF77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3FD7DB-C4F4-FC9F-B6FA-9FCEF76F54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E966F5-8F89-A1BE-20D9-60D883FDE35A}"/>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A4CAD1C2-7D6C-F613-4BE4-729B2296F6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86C528-3B7B-BE1A-830D-6608226F2050}"/>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218673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1E94-A657-8FF9-BA65-DF0E7304E4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D814EB-BD54-1BD5-CF8E-02F6FD0633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E6D12-9C98-2FFF-6612-547151C0E451}"/>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726CA91B-08B1-A28E-E55E-638510C69F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AF07F6-6250-6F3E-011D-F71FE1C5B96C}"/>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1767428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89FF-869B-DEAD-4015-D7CAC1B81C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43F93E-7F5A-4B56-2088-2560E1E5B9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34CA11-8DFB-8363-A9D2-B49CDEE74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C70E3A-C1B1-CDFC-2821-67CFEA452251}"/>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6" name="Footer Placeholder 5">
            <a:extLst>
              <a:ext uri="{FF2B5EF4-FFF2-40B4-BE49-F238E27FC236}">
                <a16:creationId xmlns:a16="http://schemas.microsoft.com/office/drawing/2014/main" id="{E4D4D22A-CC77-E4A6-DB75-037CBF3438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E7F64-3538-3626-3C61-B18466123C08}"/>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1014707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A8CB-FABF-B906-0085-E2CB0E578A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D0FB3A-34A9-44C7-AB7F-F58DC42FFA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7EBFB-8002-2C4E-1276-E5CA997EEA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B03833-F273-71AA-9E43-237AE6378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3BB8B-60CF-5159-1EF3-56FB2E7C0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048C43-D3A7-315C-7212-4B74E93EDE30}"/>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8" name="Footer Placeholder 7">
            <a:extLst>
              <a:ext uri="{FF2B5EF4-FFF2-40B4-BE49-F238E27FC236}">
                <a16:creationId xmlns:a16="http://schemas.microsoft.com/office/drawing/2014/main" id="{C662A8BA-0BA5-EDD1-A1D6-4F89EB2619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69F165-96FD-A658-B408-D964CA9042E2}"/>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152586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BB81C-A727-B799-D644-13EA4F089D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9EA1BF-9333-4037-D8D8-584B244FF337}"/>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4" name="Footer Placeholder 3">
            <a:extLst>
              <a:ext uri="{FF2B5EF4-FFF2-40B4-BE49-F238E27FC236}">
                <a16:creationId xmlns:a16="http://schemas.microsoft.com/office/drawing/2014/main" id="{F3D5B0D9-D2BE-130E-F4A1-3F51CAA314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B35727-64C6-F4DE-E6C8-C98EA45961FD}"/>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2263389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C3868A-5281-3F3D-5693-A507BBBCF689}"/>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3" name="Footer Placeholder 2">
            <a:extLst>
              <a:ext uri="{FF2B5EF4-FFF2-40B4-BE49-F238E27FC236}">
                <a16:creationId xmlns:a16="http://schemas.microsoft.com/office/drawing/2014/main" id="{7D82DAD1-E587-A7D0-7C3D-662CDBA295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A4724E9-15B3-484F-30EB-4BD10E2C8610}"/>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2891592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2D80A-3DA7-5823-6B26-33BF483CE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82ACBB-8747-EC29-514E-95AF2DF0FD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BEDC4C-B721-94ED-30DD-3F6A17F05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FB253C-BA4D-B431-4123-3286E5DAF2D2}"/>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6" name="Footer Placeholder 5">
            <a:extLst>
              <a:ext uri="{FF2B5EF4-FFF2-40B4-BE49-F238E27FC236}">
                <a16:creationId xmlns:a16="http://schemas.microsoft.com/office/drawing/2014/main" id="{065B7AA3-1B09-21C8-70EE-7CBEDC2F67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4D1218-E8FF-F5C9-8ED1-651BCA9D3079}"/>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305139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A114-155D-5813-A375-D70A4A94F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B241A6-12E5-8F3E-8DD7-FAB7F9A47B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09FC4F-0D8C-D103-FFCF-A443531A04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36E519-D387-C3C7-99F9-FAA3D7A8C0F4}"/>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6" name="Footer Placeholder 5">
            <a:extLst>
              <a:ext uri="{FF2B5EF4-FFF2-40B4-BE49-F238E27FC236}">
                <a16:creationId xmlns:a16="http://schemas.microsoft.com/office/drawing/2014/main" id="{EB83718C-7637-6A2A-AF5D-0ED8071BC3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E9A3EE-D7D2-3E99-0957-56FABC24D9D6}"/>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3010485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47901-90B0-E0E0-0F5D-D2E32C9F63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9F7F1A-013D-6D3F-5856-3FF0804D98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B5D900-6E0A-B33E-9550-C648C308B420}"/>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82026F5A-6001-BDAF-D8C0-B3BEBD21B8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13518-EE70-A261-D86B-3356400BB811}"/>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4000483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AC555-F302-AEC9-E283-5431CA1477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F861D0-972D-7494-7C17-02780BC1D9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CDEB78-E791-1973-D404-167AC95A86CE}"/>
              </a:ext>
            </a:extLst>
          </p:cNvPr>
          <p:cNvSpPr>
            <a:spLocks noGrp="1"/>
          </p:cNvSpPr>
          <p:nvPr>
            <p:ph type="dt" sz="half" idx="10"/>
          </p:nvPr>
        </p:nvSpPr>
        <p:spPr/>
        <p:txBody>
          <a:body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E174D60A-F9C5-2A65-22DF-25448C733F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19EF0F-D289-979E-00B2-014F4AFCE8A5}"/>
              </a:ext>
            </a:extLst>
          </p:cNvPr>
          <p:cNvSpPr>
            <a:spLocks noGrp="1"/>
          </p:cNvSpPr>
          <p:nvPr>
            <p:ph type="sldNum" sz="quarter" idx="12"/>
          </p:nvPr>
        </p:nvSpPr>
        <p:spPr/>
        <p:txBody>
          <a:bodyPr/>
          <a:lstStyle/>
          <a:p>
            <a:fld id="{627A04AA-4FCD-4A34-B779-940203AB5F3F}" type="slidenum">
              <a:rPr lang="en-IN" smtClean="0"/>
              <a:t>‹#›</a:t>
            </a:fld>
            <a:endParaRPr lang="en-IN"/>
          </a:p>
        </p:txBody>
      </p:sp>
    </p:spTree>
    <p:extLst>
      <p:ext uri="{BB962C8B-B14F-4D97-AF65-F5344CB8AC3E}">
        <p14:creationId xmlns:p14="http://schemas.microsoft.com/office/powerpoint/2010/main" val="166951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B36A4F-2DF4-D1D5-1BBB-9F07C37370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2B62E0-AED5-EC2E-41FC-8940D86824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F78E66-08AC-181C-01FE-47487E28F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C51F05-1417-4518-A0E4-C6ACC25D0107}" type="datetimeFigureOut">
              <a:rPr lang="en-IN" smtClean="0"/>
              <a:t>02/02/2026</a:t>
            </a:fld>
            <a:endParaRPr lang="en-IN"/>
          </a:p>
        </p:txBody>
      </p:sp>
      <p:sp>
        <p:nvSpPr>
          <p:cNvPr id="5" name="Footer Placeholder 4">
            <a:extLst>
              <a:ext uri="{FF2B5EF4-FFF2-40B4-BE49-F238E27FC236}">
                <a16:creationId xmlns:a16="http://schemas.microsoft.com/office/drawing/2014/main" id="{530FAF9F-9167-F3E0-78D5-BC34F7B77D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2E74A4-6845-464B-AC91-106C37A928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A04AA-4FCD-4A34-B779-940203AB5F3F}" type="slidenum">
              <a:rPr lang="en-IN" smtClean="0"/>
              <a:t>‹#›</a:t>
            </a:fld>
            <a:endParaRPr lang="en-IN"/>
          </a:p>
        </p:txBody>
      </p:sp>
    </p:spTree>
    <p:extLst>
      <p:ext uri="{BB962C8B-B14F-4D97-AF65-F5344CB8AC3E}">
        <p14:creationId xmlns:p14="http://schemas.microsoft.com/office/powerpoint/2010/main" val="312654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www.peoplematters.in/article/create-the-future/how-can-it-managers-become-learning-champions-18524"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7">
            <a:extLst>
              <a:ext uri="{FF2B5EF4-FFF2-40B4-BE49-F238E27FC236}">
                <a16:creationId xmlns:a16="http://schemas.microsoft.com/office/drawing/2014/main" id="{9904004B-0521-F5BA-4125-7B77682D5CD4}"/>
              </a:ext>
            </a:extLst>
          </p:cNvPr>
          <p:cNvSpPr txBox="1">
            <a:spLocks/>
          </p:cNvSpPr>
          <p:nvPr/>
        </p:nvSpPr>
        <p:spPr>
          <a:xfrm>
            <a:off x="108755" y="1171557"/>
            <a:ext cx="4944780" cy="1620000"/>
          </a:xfrm>
          <a:prstGeom prst="rect">
            <a:avLst/>
          </a:prstGeom>
        </p:spPr>
        <p:txBody>
          <a:bodyPr vert="horz" lIns="0" tIns="0" rIns="0" bIns="0" rtlCol="0" anchor="ctr" anchorCtr="0">
            <a:noAutofit/>
          </a:bodyPr>
          <a:lstStyle>
            <a:lvl1pPr algn="l" defTabSz="967710" rtl="0" eaLnBrk="1" latinLnBrk="0" hangingPunct="1">
              <a:lnSpc>
                <a:spcPts val="8500"/>
              </a:lnSpc>
              <a:spcBef>
                <a:spcPct val="0"/>
              </a:spcBef>
              <a:buNone/>
              <a:defRPr lang="en-US" sz="8500" kern="1200" smtClean="0">
                <a:solidFill>
                  <a:schemeClr val="bg1"/>
                </a:solidFill>
                <a:latin typeface="+mj-lt"/>
                <a:ea typeface="+mn-ea"/>
                <a:cs typeface="+mn-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00000"/>
              </a:lnSpc>
            </a:pPr>
            <a:r>
              <a:rPr lang="de-DE" sz="4500" b="1" dirty="0">
                <a:solidFill>
                  <a:srgbClr val="008080"/>
                </a:solidFill>
                <a:latin typeface="Allianz Neo" panose="020B0504020203020204" pitchFamily="34" charset="0"/>
              </a:rPr>
              <a:t>Tech Championship</a:t>
            </a:r>
          </a:p>
          <a:p>
            <a:pPr algn="ctr">
              <a:lnSpc>
                <a:spcPct val="100000"/>
              </a:lnSpc>
            </a:pPr>
            <a:r>
              <a:rPr lang="de-DE" sz="4500" b="1" dirty="0">
                <a:solidFill>
                  <a:srgbClr val="008080"/>
                </a:solidFill>
                <a:latin typeface="Allianz Neo" panose="020B0504020203020204" pitchFamily="34" charset="0"/>
              </a:rPr>
              <a:t>Program </a:t>
            </a:r>
          </a:p>
          <a:p>
            <a:pPr algn="ctr">
              <a:lnSpc>
                <a:spcPct val="100000"/>
              </a:lnSpc>
            </a:pPr>
            <a:r>
              <a:rPr lang="de-DE" sz="4500" b="1" dirty="0">
                <a:solidFill>
                  <a:schemeClr val="accent6">
                    <a:lumMod val="75000"/>
                  </a:schemeClr>
                </a:solidFill>
                <a:latin typeface="Allianz Neo" panose="020B0504020203020204" pitchFamily="34" charset="0"/>
              </a:rPr>
              <a:t>2025</a:t>
            </a:r>
          </a:p>
        </p:txBody>
      </p:sp>
      <p:sp>
        <p:nvSpPr>
          <p:cNvPr id="2" name="Textplatzhalter 10">
            <a:extLst>
              <a:ext uri="{FF2B5EF4-FFF2-40B4-BE49-F238E27FC236}">
                <a16:creationId xmlns:a16="http://schemas.microsoft.com/office/drawing/2014/main" id="{D3D35076-4947-F21A-D505-F72498075FEF}"/>
              </a:ext>
            </a:extLst>
          </p:cNvPr>
          <p:cNvSpPr txBox="1">
            <a:spLocks/>
          </p:cNvSpPr>
          <p:nvPr/>
        </p:nvSpPr>
        <p:spPr>
          <a:xfrm>
            <a:off x="224165" y="5996509"/>
            <a:ext cx="1692900" cy="546124"/>
          </a:xfrm>
          <a:prstGeom prst="rect">
            <a:avLst/>
          </a:prstGeom>
        </p:spPr>
        <p:txBody>
          <a:bodyPr vert="horz" lIns="0" tIns="0" rIns="0" bIns="0" rtlCol="0" anchor="b" anchorCtr="0">
            <a:noAutofit/>
          </a:bodyPr>
          <a:lstStyle>
            <a:lvl1pPr marL="0" indent="0" algn="l" defTabSz="967710" rtl="0" eaLnBrk="1" latinLnBrk="0" hangingPunct="1">
              <a:lnSpc>
                <a:spcPct val="100000"/>
              </a:lnSpc>
              <a:spcBef>
                <a:spcPts val="0"/>
              </a:spcBef>
              <a:buFont typeface="+mj-lt"/>
              <a:buNone/>
              <a:defRPr sz="1100" kern="1200">
                <a:solidFill>
                  <a:schemeClr val="bg1"/>
                </a:solidFill>
                <a:latin typeface="Allianz Neo" panose="020B0504020203020204" pitchFamily="34" charset="0"/>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Allianz Neo" panose="020B0504020203020204" pitchFamily="34" charset="0"/>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Allianz Neo" panose="020B0504020203020204" pitchFamily="34" charset="0"/>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Allianz Neo" panose="020B0504020203020204" pitchFamily="34" charset="0"/>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Allianz Neo" panose="020B0504020203020204" pitchFamily="34" charset="0"/>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l" defTabSz="967710" rtl="0" eaLnBrk="1" fontAlgn="auto" latinLnBrk="0" hangingPunct="1">
              <a:lnSpc>
                <a:spcPct val="100000"/>
              </a:lnSpc>
              <a:spcBef>
                <a:spcPts val="0"/>
              </a:spcBef>
              <a:spcAft>
                <a:spcPts val="0"/>
              </a:spcAft>
              <a:buClrTx/>
              <a:buSzTx/>
              <a:buFont typeface="+mj-lt"/>
              <a:buNone/>
              <a:tabLst/>
              <a:defRPr/>
            </a:pPr>
            <a:r>
              <a:rPr kumimoji="0" lang="en-US" sz="1100" b="0" i="0" u="none" strike="noStrike" kern="1200" cap="none" spc="0" normalizeH="0" baseline="0" noProof="0" dirty="0">
                <a:ln>
                  <a:noFill/>
                </a:ln>
                <a:solidFill>
                  <a:srgbClr val="008080"/>
                </a:solidFill>
                <a:effectLst/>
                <a:uLnTx/>
                <a:uFillTx/>
              </a:rPr>
              <a:t>College Name: Vishwakarma Institute of Technology</a:t>
            </a:r>
          </a:p>
        </p:txBody>
      </p:sp>
      <p:sp>
        <p:nvSpPr>
          <p:cNvPr id="6" name="Textplatzhalter 11">
            <a:extLst>
              <a:ext uri="{FF2B5EF4-FFF2-40B4-BE49-F238E27FC236}">
                <a16:creationId xmlns:a16="http://schemas.microsoft.com/office/drawing/2014/main" id="{FAF6FF31-B11A-F4A6-7CE0-9BADA00B254D}"/>
              </a:ext>
            </a:extLst>
          </p:cNvPr>
          <p:cNvSpPr txBox="1">
            <a:spLocks/>
          </p:cNvSpPr>
          <p:nvPr/>
        </p:nvSpPr>
        <p:spPr>
          <a:xfrm>
            <a:off x="3476044" y="6107345"/>
            <a:ext cx="1692900" cy="546124"/>
          </a:xfrm>
          <a:prstGeom prst="rect">
            <a:avLst/>
          </a:prstGeom>
        </p:spPr>
        <p:txBody>
          <a:bodyPr vert="horz" lIns="0" tIns="0" rIns="0" bIns="0" rtlCol="0" anchor="b" anchorCtr="0">
            <a:noAutofit/>
          </a:bodyPr>
          <a:lstStyle>
            <a:lvl1pPr marL="0" indent="0" algn="l" defTabSz="967710" rtl="0" eaLnBrk="1" latinLnBrk="0" hangingPunct="1">
              <a:lnSpc>
                <a:spcPct val="100000"/>
              </a:lnSpc>
              <a:spcBef>
                <a:spcPts val="0"/>
              </a:spcBef>
              <a:buFont typeface="+mj-lt"/>
              <a:buNone/>
              <a:defRPr sz="1100" kern="1200">
                <a:solidFill>
                  <a:schemeClr val="bg1"/>
                </a:solidFill>
                <a:latin typeface="Allianz Neo" panose="020B0504020203020204" pitchFamily="34" charset="0"/>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Allianz Neo" panose="020B0504020203020204" pitchFamily="34" charset="0"/>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Allianz Neo" panose="020B0504020203020204" pitchFamily="34" charset="0"/>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Allianz Neo" panose="020B0504020203020204" pitchFamily="34" charset="0"/>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Allianz Neo" panose="020B0504020203020204" pitchFamily="34" charset="0"/>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l" defTabSz="967710" rtl="0" eaLnBrk="1" fontAlgn="auto" latinLnBrk="0" hangingPunct="1">
              <a:lnSpc>
                <a:spcPct val="100000"/>
              </a:lnSpc>
              <a:spcBef>
                <a:spcPts val="0"/>
              </a:spcBef>
              <a:spcAft>
                <a:spcPts val="0"/>
              </a:spcAft>
              <a:buClrTx/>
              <a:buSzTx/>
              <a:buFont typeface="+mj-lt"/>
              <a:buNone/>
              <a:tabLst/>
              <a:defRPr/>
            </a:pPr>
            <a:r>
              <a:rPr kumimoji="0" lang="en-US" sz="1100" b="0" i="0" u="none" strike="noStrike" kern="1200" cap="none" spc="0" normalizeH="0" baseline="0" noProof="0" dirty="0">
                <a:ln>
                  <a:noFill/>
                </a:ln>
                <a:solidFill>
                  <a:srgbClr val="008080"/>
                </a:solidFill>
                <a:effectLst/>
                <a:uLnTx/>
                <a:uFillTx/>
              </a:rPr>
              <a:t>Location :- Pune</a:t>
            </a:r>
            <a:br>
              <a:rPr kumimoji="0" lang="en-US" sz="1100" b="0" i="0" u="none" strike="noStrike" kern="1200" cap="none" spc="0" normalizeH="0" baseline="0" noProof="0" dirty="0">
                <a:ln>
                  <a:noFill/>
                </a:ln>
                <a:solidFill>
                  <a:srgbClr val="008080"/>
                </a:solidFill>
                <a:effectLst/>
                <a:uLnTx/>
                <a:uFillTx/>
              </a:rPr>
            </a:br>
            <a:r>
              <a:rPr kumimoji="0" lang="en-US" sz="1100" b="0" i="0" u="none" strike="noStrike" kern="1200" cap="none" spc="0" normalizeH="0" baseline="0" noProof="0" dirty="0">
                <a:ln>
                  <a:noFill/>
                </a:ln>
                <a:solidFill>
                  <a:srgbClr val="008080"/>
                </a:solidFill>
                <a:effectLst/>
                <a:uLnTx/>
                <a:uFillTx/>
              </a:rPr>
              <a:t>Month 01, 2026</a:t>
            </a:r>
          </a:p>
        </p:txBody>
      </p:sp>
      <p:sp>
        <p:nvSpPr>
          <p:cNvPr id="7" name="TextBox 6">
            <a:extLst>
              <a:ext uri="{FF2B5EF4-FFF2-40B4-BE49-F238E27FC236}">
                <a16:creationId xmlns:a16="http://schemas.microsoft.com/office/drawing/2014/main" id="{3D98E969-A26D-FAB1-B497-F10D42A52B11}"/>
              </a:ext>
            </a:extLst>
          </p:cNvPr>
          <p:cNvSpPr txBox="1"/>
          <p:nvPr/>
        </p:nvSpPr>
        <p:spPr>
          <a:xfrm>
            <a:off x="108755" y="3429000"/>
            <a:ext cx="5341067" cy="2031325"/>
          </a:xfrm>
          <a:prstGeom prst="rect">
            <a:avLst/>
          </a:prstGeom>
          <a:noFill/>
        </p:spPr>
        <p:txBody>
          <a:bodyPr wrap="square" rtlCol="0">
            <a:spAutoFit/>
          </a:bodyPr>
          <a:lstStyle/>
          <a:p>
            <a:endParaRPr lang="en-US" dirty="0">
              <a:solidFill>
                <a:srgbClr val="0070C0"/>
              </a:solidFill>
              <a:latin typeface="Allianz Neo" panose="020B0504020203020204" pitchFamily="34" charset="0"/>
            </a:endParaRPr>
          </a:p>
          <a:p>
            <a:r>
              <a:rPr lang="en-US" b="1" dirty="0">
                <a:solidFill>
                  <a:srgbClr val="008080"/>
                </a:solidFill>
                <a:latin typeface="Allianz Neo" panose="020B0504020203020204" pitchFamily="34" charset="0"/>
              </a:rPr>
              <a:t>Idea Title:</a:t>
            </a:r>
            <a:r>
              <a:rPr lang="en-US" b="1" dirty="0">
                <a:solidFill>
                  <a:srgbClr val="0070C0"/>
                </a:solidFill>
                <a:latin typeface="Allianz Neo" panose="020B0504020203020204" pitchFamily="34" charset="0"/>
              </a:rPr>
              <a:t> </a:t>
            </a:r>
            <a:r>
              <a:rPr lang="en-US" b="1" dirty="0">
                <a:solidFill>
                  <a:srgbClr val="008080"/>
                </a:solidFill>
                <a:latin typeface="Allianz Neo" panose="020B0504020203020204" pitchFamily="34" charset="0"/>
              </a:rPr>
              <a:t>Eco Compute -Allianz Sustainable GenAI Optimizing Energy Consumption and Reducing Carbon Footprint in AI Operations</a:t>
            </a:r>
          </a:p>
          <a:p>
            <a:endParaRPr lang="en-US" dirty="0">
              <a:solidFill>
                <a:srgbClr val="0070C0"/>
              </a:solidFill>
              <a:latin typeface="Allianz Neo" panose="020B0504020203020204" pitchFamily="34" charset="0"/>
            </a:endParaRPr>
          </a:p>
          <a:p>
            <a:endParaRPr lang="en-US" dirty="0">
              <a:solidFill>
                <a:srgbClr val="0070C0"/>
              </a:solidFill>
              <a:latin typeface="Allianz Neo" panose="020B0504020203020204" pitchFamily="34" charset="0"/>
            </a:endParaRPr>
          </a:p>
          <a:p>
            <a:r>
              <a:rPr lang="en-US" b="1" dirty="0">
                <a:solidFill>
                  <a:srgbClr val="008080"/>
                </a:solidFill>
                <a:latin typeface="Allianz Neo" panose="020B0504020203020204" pitchFamily="34" charset="0"/>
              </a:rPr>
              <a:t>Presenter: Omkar </a:t>
            </a:r>
            <a:r>
              <a:rPr lang="en-US" b="1" dirty="0" err="1">
                <a:solidFill>
                  <a:srgbClr val="008080"/>
                </a:solidFill>
                <a:latin typeface="Allianz Neo" panose="020B0504020203020204" pitchFamily="34" charset="0"/>
              </a:rPr>
              <a:t>Gondkar</a:t>
            </a:r>
            <a:r>
              <a:rPr lang="en-US" b="1" dirty="0">
                <a:solidFill>
                  <a:srgbClr val="0070C0"/>
                </a:solidFill>
                <a:latin typeface="Allianz Neo" panose="020B0504020203020204" pitchFamily="34" charset="0"/>
              </a:rPr>
              <a:t> </a:t>
            </a:r>
            <a:r>
              <a:rPr lang="en-US" dirty="0">
                <a:solidFill>
                  <a:srgbClr val="0070C0"/>
                </a:solidFill>
                <a:latin typeface="Allianz Neo" panose="020B0504020203020204" pitchFamily="34" charset="0"/>
              </a:rPr>
              <a:t> </a:t>
            </a:r>
            <a:endParaRPr lang="de-DE" dirty="0">
              <a:solidFill>
                <a:srgbClr val="0070C0"/>
              </a:solidFill>
              <a:latin typeface="Allianz Neo" panose="020B0504020203020204" pitchFamily="34" charset="0"/>
            </a:endParaRPr>
          </a:p>
        </p:txBody>
      </p:sp>
      <p:pic>
        <p:nvPicPr>
          <p:cNvPr id="8" name="Picture 7" descr="Connecting lines and dots">
            <a:extLst>
              <a:ext uri="{FF2B5EF4-FFF2-40B4-BE49-F238E27FC236}">
                <a16:creationId xmlns:a16="http://schemas.microsoft.com/office/drawing/2014/main" id="{91734F89-6BE4-299C-F6EA-E06F8C87A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9823" y="0"/>
            <a:ext cx="6742176" cy="6858000"/>
          </a:xfrm>
          <a:prstGeom prst="rect">
            <a:avLst/>
          </a:prstGeom>
        </p:spPr>
      </p:pic>
      <p:pic>
        <p:nvPicPr>
          <p:cNvPr id="14" name="Picture 13" descr="A hand holding a star trophy&#10;&#10;AI-generated content may be incorrect.">
            <a:extLst>
              <a:ext uri="{FF2B5EF4-FFF2-40B4-BE49-F238E27FC236}">
                <a16:creationId xmlns:a16="http://schemas.microsoft.com/office/drawing/2014/main" id="{121A51C8-58A5-092C-23D0-6C5F5BAA355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449824" y="-18744"/>
            <a:ext cx="6742176" cy="6876744"/>
          </a:xfrm>
          <a:prstGeom prst="rect">
            <a:avLst/>
          </a:prstGeom>
        </p:spPr>
      </p:pic>
    </p:spTree>
    <p:extLst>
      <p:ext uri="{BB962C8B-B14F-4D97-AF65-F5344CB8AC3E}">
        <p14:creationId xmlns:p14="http://schemas.microsoft.com/office/powerpoint/2010/main" val="3356491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48A6F8-FF68-08C2-4B7E-986D116385E5}"/>
              </a:ext>
            </a:extLst>
          </p:cNvPr>
          <p:cNvSpPr txBox="1"/>
          <p:nvPr/>
        </p:nvSpPr>
        <p:spPr>
          <a:xfrm>
            <a:off x="-47" y="0"/>
            <a:ext cx="12191999" cy="369332"/>
          </a:xfrm>
          <a:prstGeom prst="rect">
            <a:avLst/>
          </a:prstGeom>
          <a:solidFill>
            <a:srgbClr val="008080"/>
          </a:solidFill>
        </p:spPr>
        <p:txBody>
          <a:bodyPr wrap="square" rtlCol="0" anchor="ctr">
            <a:spAutoFit/>
          </a:bodyPr>
          <a:lstStyle/>
          <a:p>
            <a:r>
              <a:rPr lang="en-US" b="1" dirty="0">
                <a:solidFill>
                  <a:schemeClr val="bg1"/>
                </a:solidFill>
                <a:latin typeface="Allianz Neo" panose="020B0504020203020204" pitchFamily="34" charset="0"/>
              </a:rPr>
              <a:t>Problem Statement: </a:t>
            </a:r>
            <a:r>
              <a:rPr lang="en-US" b="1" dirty="0">
                <a:solidFill>
                  <a:schemeClr val="bg1"/>
                </a:solidFill>
              </a:rPr>
              <a:t>ESG:​​​​​​​​​​​​​​- Environmental Impact of Generative AI</a:t>
            </a:r>
            <a:endParaRPr lang="en-US" dirty="0">
              <a:solidFill>
                <a:schemeClr val="bg1"/>
              </a:solidFill>
            </a:endParaRPr>
          </a:p>
        </p:txBody>
      </p:sp>
      <p:pic>
        <p:nvPicPr>
          <p:cNvPr id="2" name="Graphic 1" descr="Lightbulb and pencil with solid fill">
            <a:extLst>
              <a:ext uri="{FF2B5EF4-FFF2-40B4-BE49-F238E27FC236}">
                <a16:creationId xmlns:a16="http://schemas.microsoft.com/office/drawing/2014/main" id="{965B8DAA-B1EE-02AE-2AE3-E966D5CA2E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20" y="898904"/>
            <a:ext cx="544026" cy="544026"/>
          </a:xfrm>
          <a:prstGeom prst="rect">
            <a:avLst/>
          </a:prstGeom>
        </p:spPr>
      </p:pic>
      <p:grpSp>
        <p:nvGrpSpPr>
          <p:cNvPr id="4" name="Group 3">
            <a:extLst>
              <a:ext uri="{FF2B5EF4-FFF2-40B4-BE49-F238E27FC236}">
                <a16:creationId xmlns:a16="http://schemas.microsoft.com/office/drawing/2014/main" id="{941B9C9A-E5F0-6CF1-E0D8-AEE8E0F0C688}"/>
              </a:ext>
            </a:extLst>
          </p:cNvPr>
          <p:cNvGrpSpPr/>
          <p:nvPr/>
        </p:nvGrpSpPr>
        <p:grpSpPr>
          <a:xfrm>
            <a:off x="634511" y="425285"/>
            <a:ext cx="11539153" cy="278804"/>
            <a:chOff x="5589" y="875369"/>
            <a:chExt cx="2142620" cy="857048"/>
          </a:xfrm>
          <a:solidFill>
            <a:srgbClr val="008080"/>
          </a:solidFill>
        </p:grpSpPr>
        <p:sp>
          <p:nvSpPr>
            <p:cNvPr id="11" name="Rectangle 10">
              <a:extLst>
                <a:ext uri="{FF2B5EF4-FFF2-40B4-BE49-F238E27FC236}">
                  <a16:creationId xmlns:a16="http://schemas.microsoft.com/office/drawing/2014/main" id="{FC5B762F-C31D-4089-42F4-8F762F7B359D}"/>
                </a:ext>
              </a:extLst>
            </p:cNvPr>
            <p:cNvSpPr/>
            <p:nvPr/>
          </p:nvSpPr>
          <p:spPr>
            <a:xfrm>
              <a:off x="5589" y="875369"/>
              <a:ext cx="2142620" cy="857048"/>
            </a:xfrm>
            <a:prstGeom prst="rect">
              <a:avLst/>
            </a:prstGeom>
            <a:grpFill/>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nchor="ctr"/>
            <a:lstStyle/>
            <a:p>
              <a:endParaRPr lang="en-US"/>
            </a:p>
          </p:txBody>
        </p:sp>
        <p:sp>
          <p:nvSpPr>
            <p:cNvPr id="13" name="TextBox 12">
              <a:extLst>
                <a:ext uri="{FF2B5EF4-FFF2-40B4-BE49-F238E27FC236}">
                  <a16:creationId xmlns:a16="http://schemas.microsoft.com/office/drawing/2014/main" id="{DC6ED7BA-87CF-6E1C-5931-55011261F9FA}"/>
                </a:ext>
              </a:extLst>
            </p:cNvPr>
            <p:cNvSpPr txBox="1"/>
            <p:nvPr/>
          </p:nvSpPr>
          <p:spPr>
            <a:xfrm>
              <a:off x="5589" y="875369"/>
              <a:ext cx="2142620" cy="85704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568" tIns="56896" rIns="99568" bIns="56896" numCol="1" spcCol="1270" anchor="ctr" anchorCtr="0">
              <a:noAutofit/>
            </a:bodyPr>
            <a:lstStyle/>
            <a:p>
              <a:pPr marL="0" lvl="0" indent="0" defTabSz="622300">
                <a:lnSpc>
                  <a:spcPct val="50000"/>
                </a:lnSpc>
                <a:spcBef>
                  <a:spcPct val="0"/>
                </a:spcBef>
                <a:spcAft>
                  <a:spcPts val="600"/>
                </a:spcAft>
                <a:buNone/>
              </a:pPr>
              <a:r>
                <a:rPr lang="en-US" sz="1400" b="1" kern="1200" dirty="0">
                  <a:latin typeface="+mn-lt"/>
                </a:rPr>
                <a:t>Idea Description:</a:t>
              </a:r>
            </a:p>
          </p:txBody>
        </p:sp>
      </p:grpSp>
      <p:grpSp>
        <p:nvGrpSpPr>
          <p:cNvPr id="5" name="Group 4">
            <a:extLst>
              <a:ext uri="{FF2B5EF4-FFF2-40B4-BE49-F238E27FC236}">
                <a16:creationId xmlns:a16="http://schemas.microsoft.com/office/drawing/2014/main" id="{E48A6740-BEC6-E335-EF85-2FDE144A73A4}"/>
              </a:ext>
            </a:extLst>
          </p:cNvPr>
          <p:cNvGrpSpPr/>
          <p:nvPr/>
        </p:nvGrpSpPr>
        <p:grpSpPr>
          <a:xfrm>
            <a:off x="634511" y="679075"/>
            <a:ext cx="11539153" cy="947949"/>
            <a:chOff x="5589" y="1732417"/>
            <a:chExt cx="2142620" cy="2810880"/>
          </a:xfrm>
          <a:solidFill>
            <a:srgbClr val="AFECEB"/>
          </a:solidFill>
        </p:grpSpPr>
        <p:sp>
          <p:nvSpPr>
            <p:cNvPr id="7" name="Rectangle 6">
              <a:extLst>
                <a:ext uri="{FF2B5EF4-FFF2-40B4-BE49-F238E27FC236}">
                  <a16:creationId xmlns:a16="http://schemas.microsoft.com/office/drawing/2014/main" id="{0DB5A33B-AC51-A58A-5691-E66EB7811A26}"/>
                </a:ext>
              </a:extLst>
            </p:cNvPr>
            <p:cNvSpPr/>
            <p:nvPr/>
          </p:nvSpPr>
          <p:spPr>
            <a:xfrm>
              <a:off x="5589" y="1732417"/>
              <a:ext cx="2142620" cy="2810880"/>
            </a:xfrm>
            <a:prstGeom prst="rect">
              <a:avLst/>
            </a:prstGeom>
            <a:grpFill/>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anchor="ctr"/>
            <a:lstStyle/>
            <a:p>
              <a:endParaRPr lang="en-US"/>
            </a:p>
          </p:txBody>
        </p:sp>
        <p:sp>
          <p:nvSpPr>
            <p:cNvPr id="9" name="TextBox 8">
              <a:extLst>
                <a:ext uri="{FF2B5EF4-FFF2-40B4-BE49-F238E27FC236}">
                  <a16:creationId xmlns:a16="http://schemas.microsoft.com/office/drawing/2014/main" id="{34B4499D-248D-C1DC-EF56-A2D504FACD01}"/>
                </a:ext>
              </a:extLst>
            </p:cNvPr>
            <p:cNvSpPr txBox="1"/>
            <p:nvPr/>
          </p:nvSpPr>
          <p:spPr>
            <a:xfrm>
              <a:off x="5589" y="1732417"/>
              <a:ext cx="2142620" cy="2810880"/>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endParaRPr lang="de-DE" sz="1200" kern="1200" dirty="0">
                <a:latin typeface="+mn-lt"/>
              </a:endParaRPr>
            </a:p>
            <a:p>
              <a:pPr marL="114300" lvl="1" indent="-114300" algn="l" defTabSz="533400">
                <a:lnSpc>
                  <a:spcPct val="90000"/>
                </a:lnSpc>
                <a:spcBef>
                  <a:spcPct val="0"/>
                </a:spcBef>
                <a:spcAft>
                  <a:spcPct val="15000"/>
                </a:spcAft>
                <a:buChar char="•"/>
              </a:pPr>
              <a:endParaRPr lang="de-DE" sz="1200" kern="1200">
                <a:latin typeface="+mn-lt"/>
              </a:endParaRPr>
            </a:p>
          </p:txBody>
        </p:sp>
      </p:grpSp>
      <p:pic>
        <p:nvPicPr>
          <p:cNvPr id="14" name="Graphic 13" descr="Qr Code with solid fill">
            <a:extLst>
              <a:ext uri="{FF2B5EF4-FFF2-40B4-BE49-F238E27FC236}">
                <a16:creationId xmlns:a16="http://schemas.microsoft.com/office/drawing/2014/main" id="{BF3BDDF8-EB57-984C-CEE6-11C714B033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72" y="2421917"/>
            <a:ext cx="544026" cy="544026"/>
          </a:xfrm>
          <a:prstGeom prst="rect">
            <a:avLst/>
          </a:prstGeom>
        </p:spPr>
      </p:pic>
      <p:grpSp>
        <p:nvGrpSpPr>
          <p:cNvPr id="15" name="Group 14">
            <a:extLst>
              <a:ext uri="{FF2B5EF4-FFF2-40B4-BE49-F238E27FC236}">
                <a16:creationId xmlns:a16="http://schemas.microsoft.com/office/drawing/2014/main" id="{858F7645-E129-3A4C-2987-5173E0D75944}"/>
              </a:ext>
            </a:extLst>
          </p:cNvPr>
          <p:cNvGrpSpPr/>
          <p:nvPr/>
        </p:nvGrpSpPr>
        <p:grpSpPr>
          <a:xfrm>
            <a:off x="634510" y="1642527"/>
            <a:ext cx="11539153" cy="247243"/>
            <a:chOff x="2448177" y="875369"/>
            <a:chExt cx="2142620" cy="857048"/>
          </a:xfrm>
          <a:solidFill>
            <a:srgbClr val="008080"/>
          </a:solidFill>
        </p:grpSpPr>
        <p:sp>
          <p:nvSpPr>
            <p:cNvPr id="21" name="Rectangle 20">
              <a:extLst>
                <a:ext uri="{FF2B5EF4-FFF2-40B4-BE49-F238E27FC236}">
                  <a16:creationId xmlns:a16="http://schemas.microsoft.com/office/drawing/2014/main" id="{877D8700-4074-3957-83A4-651F5F8218E2}"/>
                </a:ext>
              </a:extLst>
            </p:cNvPr>
            <p:cNvSpPr/>
            <p:nvPr/>
          </p:nvSpPr>
          <p:spPr>
            <a:xfrm>
              <a:off x="2448177" y="875369"/>
              <a:ext cx="2142620" cy="857048"/>
            </a:xfrm>
            <a:prstGeom prst="rect">
              <a:avLst/>
            </a:prstGeom>
            <a:grpFill/>
          </p:spPr>
          <p:style>
            <a:lnRef idx="2">
              <a:schemeClr val="accent5">
                <a:hueOff val="-1689636"/>
                <a:satOff val="-4355"/>
                <a:lumOff val="-2941"/>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anchor="ctr"/>
            <a:lstStyle/>
            <a:p>
              <a:endParaRPr lang="en-US"/>
            </a:p>
          </p:txBody>
        </p:sp>
        <p:sp>
          <p:nvSpPr>
            <p:cNvPr id="23" name="TextBox 22">
              <a:extLst>
                <a:ext uri="{FF2B5EF4-FFF2-40B4-BE49-F238E27FC236}">
                  <a16:creationId xmlns:a16="http://schemas.microsoft.com/office/drawing/2014/main" id="{F8CC8E70-6C89-9B80-8021-5B357EFCFB82}"/>
                </a:ext>
              </a:extLst>
            </p:cNvPr>
            <p:cNvSpPr txBox="1"/>
            <p:nvPr/>
          </p:nvSpPr>
          <p:spPr>
            <a:xfrm>
              <a:off x="2448177" y="875369"/>
              <a:ext cx="2142620" cy="85704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568" tIns="56896" rIns="99568" bIns="56896" numCol="1" spcCol="1270" anchor="ctr" anchorCtr="0">
              <a:noAutofit/>
            </a:bodyPr>
            <a:lstStyle/>
            <a:p>
              <a:pPr marL="0" lvl="0" indent="0" defTabSz="622300">
                <a:lnSpc>
                  <a:spcPct val="90000"/>
                </a:lnSpc>
                <a:spcBef>
                  <a:spcPct val="0"/>
                </a:spcBef>
                <a:spcAft>
                  <a:spcPct val="35000"/>
                </a:spcAft>
                <a:buNone/>
              </a:pPr>
              <a:r>
                <a:rPr lang="en-US" sz="1400" b="1" kern="1200" dirty="0">
                  <a:latin typeface="+mn-lt"/>
                </a:rPr>
                <a:t>Tool/Coding Language/Platform/Application to be used &amp; How?:</a:t>
              </a:r>
              <a:endParaRPr lang="de-DE" sz="1400" b="1" kern="1200" dirty="0">
                <a:latin typeface="+mn-lt"/>
              </a:endParaRPr>
            </a:p>
          </p:txBody>
        </p:sp>
      </p:grpSp>
      <p:graphicFrame>
        <p:nvGraphicFramePr>
          <p:cNvPr id="25" name="Table 24">
            <a:extLst>
              <a:ext uri="{FF2B5EF4-FFF2-40B4-BE49-F238E27FC236}">
                <a16:creationId xmlns:a16="http://schemas.microsoft.com/office/drawing/2014/main" id="{FDA0EF5B-B4E3-CDE3-A48E-5B0E90335F8F}"/>
              </a:ext>
            </a:extLst>
          </p:cNvPr>
          <p:cNvGraphicFramePr>
            <a:graphicFrameLocks noGrp="1"/>
          </p:cNvGraphicFramePr>
          <p:nvPr>
            <p:extLst>
              <p:ext uri="{D42A27DB-BD31-4B8C-83A1-F6EECF244321}">
                <p14:modId xmlns:p14="http://schemas.microsoft.com/office/powerpoint/2010/main" val="1269927697"/>
              </p:ext>
            </p:extLst>
          </p:nvPr>
        </p:nvGraphicFramePr>
        <p:xfrm>
          <a:off x="634510" y="1901334"/>
          <a:ext cx="11519946" cy="1527666"/>
        </p:xfrm>
        <a:graphic>
          <a:graphicData uri="http://schemas.openxmlformats.org/drawingml/2006/table">
            <a:tbl>
              <a:tblPr firstRow="1" bandRow="1">
                <a:tableStyleId>{5C22544A-7EE6-4342-B048-85BDC9FD1C3A}</a:tableStyleId>
              </a:tblPr>
              <a:tblGrid>
                <a:gridCol w="1633202">
                  <a:extLst>
                    <a:ext uri="{9D8B030D-6E8A-4147-A177-3AD203B41FA5}">
                      <a16:colId xmlns:a16="http://schemas.microsoft.com/office/drawing/2014/main" val="2107839388"/>
                    </a:ext>
                  </a:extLst>
                </a:gridCol>
                <a:gridCol w="1581912">
                  <a:extLst>
                    <a:ext uri="{9D8B030D-6E8A-4147-A177-3AD203B41FA5}">
                      <a16:colId xmlns:a16="http://schemas.microsoft.com/office/drawing/2014/main" val="1570765412"/>
                    </a:ext>
                  </a:extLst>
                </a:gridCol>
                <a:gridCol w="1537716">
                  <a:extLst>
                    <a:ext uri="{9D8B030D-6E8A-4147-A177-3AD203B41FA5}">
                      <a16:colId xmlns:a16="http://schemas.microsoft.com/office/drawing/2014/main" val="2546290240"/>
                    </a:ext>
                  </a:extLst>
                </a:gridCol>
                <a:gridCol w="1699260">
                  <a:extLst>
                    <a:ext uri="{9D8B030D-6E8A-4147-A177-3AD203B41FA5}">
                      <a16:colId xmlns:a16="http://schemas.microsoft.com/office/drawing/2014/main" val="3671516597"/>
                    </a:ext>
                  </a:extLst>
                </a:gridCol>
                <a:gridCol w="1709928">
                  <a:extLst>
                    <a:ext uri="{9D8B030D-6E8A-4147-A177-3AD203B41FA5}">
                      <a16:colId xmlns:a16="http://schemas.microsoft.com/office/drawing/2014/main" val="1257710658"/>
                    </a:ext>
                  </a:extLst>
                </a:gridCol>
                <a:gridCol w="1517904">
                  <a:extLst>
                    <a:ext uri="{9D8B030D-6E8A-4147-A177-3AD203B41FA5}">
                      <a16:colId xmlns:a16="http://schemas.microsoft.com/office/drawing/2014/main" val="2226563036"/>
                    </a:ext>
                  </a:extLst>
                </a:gridCol>
                <a:gridCol w="1840024">
                  <a:extLst>
                    <a:ext uri="{9D8B030D-6E8A-4147-A177-3AD203B41FA5}">
                      <a16:colId xmlns:a16="http://schemas.microsoft.com/office/drawing/2014/main" val="2110072078"/>
                    </a:ext>
                  </a:extLst>
                </a:gridCol>
              </a:tblGrid>
              <a:tr h="369426">
                <a:tc>
                  <a:txBody>
                    <a:bodyPr/>
                    <a:lstStyle/>
                    <a:p>
                      <a:pPr algn="ctr"/>
                      <a:r>
                        <a:rPr lang="en-US" sz="1000" dirty="0">
                          <a:latin typeface="+mn-lt"/>
                        </a:rPr>
                        <a:t>Frontend</a:t>
                      </a:r>
                    </a:p>
                  </a:txBody>
                  <a:tcPr anchor="ctr">
                    <a:solidFill>
                      <a:srgbClr val="008080"/>
                    </a:solidFill>
                  </a:tcPr>
                </a:tc>
                <a:tc>
                  <a:txBody>
                    <a:bodyPr/>
                    <a:lstStyle/>
                    <a:p>
                      <a:pPr algn="ctr"/>
                      <a:r>
                        <a:rPr lang="en-US" sz="1000" dirty="0">
                          <a:latin typeface="+mn-lt"/>
                        </a:rPr>
                        <a:t>Backend</a:t>
                      </a:r>
                    </a:p>
                  </a:txBody>
                  <a:tcPr anchor="ctr">
                    <a:solidFill>
                      <a:srgbClr val="008080"/>
                    </a:solidFill>
                  </a:tcPr>
                </a:tc>
                <a:tc>
                  <a:txBody>
                    <a:bodyPr/>
                    <a:lstStyle/>
                    <a:p>
                      <a:pPr algn="ctr"/>
                      <a:r>
                        <a:rPr lang="en-US" sz="1000" dirty="0">
                          <a:latin typeface="+mn-lt"/>
                        </a:rPr>
                        <a:t>Database</a:t>
                      </a:r>
                    </a:p>
                  </a:txBody>
                  <a:tcPr anchor="ctr">
                    <a:solidFill>
                      <a:srgbClr val="008080"/>
                    </a:solidFill>
                  </a:tcPr>
                </a:tc>
                <a:tc>
                  <a:txBody>
                    <a:bodyPr/>
                    <a:lstStyle/>
                    <a:p>
                      <a:pPr algn="ctr"/>
                      <a:r>
                        <a:rPr lang="en-US" sz="1000" dirty="0">
                          <a:latin typeface="+mn-lt"/>
                        </a:rPr>
                        <a:t>DevOps</a:t>
                      </a:r>
                    </a:p>
                  </a:txBody>
                  <a:tcPr anchor="ctr">
                    <a:solidFill>
                      <a:srgbClr val="008080"/>
                    </a:solidFill>
                  </a:tcPr>
                </a:tc>
                <a:tc>
                  <a:txBody>
                    <a:bodyPr/>
                    <a:lstStyle/>
                    <a:p>
                      <a:pPr algn="ctr"/>
                      <a:r>
                        <a:rPr lang="en-US" sz="1000" dirty="0">
                          <a:latin typeface="+mn-lt"/>
                        </a:rPr>
                        <a:t>Testing</a:t>
                      </a:r>
                    </a:p>
                  </a:txBody>
                  <a:tcPr anchor="ctr">
                    <a:solidFill>
                      <a:srgbClr val="008080"/>
                    </a:solidFill>
                  </a:tcPr>
                </a:tc>
                <a:tc>
                  <a:txBody>
                    <a:bodyPr/>
                    <a:lstStyle/>
                    <a:p>
                      <a:pPr algn="ctr"/>
                      <a:r>
                        <a:rPr lang="en-US" sz="1000" dirty="0">
                          <a:latin typeface="+mn-lt"/>
                        </a:rPr>
                        <a:t>Security</a:t>
                      </a:r>
                    </a:p>
                  </a:txBody>
                  <a:tcPr anchor="ctr">
                    <a:solidFill>
                      <a:srgbClr val="008080"/>
                    </a:solidFill>
                  </a:tcPr>
                </a:tc>
                <a:tc>
                  <a:txBody>
                    <a:bodyPr/>
                    <a:lstStyle/>
                    <a:p>
                      <a:pPr algn="ctr"/>
                      <a:r>
                        <a:rPr lang="en-US" sz="1000" dirty="0">
                          <a:latin typeface="+mn-lt"/>
                        </a:rPr>
                        <a:t>Collaboration</a:t>
                      </a:r>
                    </a:p>
                  </a:txBody>
                  <a:tcPr anchor="ctr">
                    <a:solidFill>
                      <a:srgbClr val="008080"/>
                    </a:solidFill>
                  </a:tcPr>
                </a:tc>
                <a:extLst>
                  <a:ext uri="{0D108BD9-81ED-4DB2-BD59-A6C34878D82A}">
                    <a16:rowId xmlns:a16="http://schemas.microsoft.com/office/drawing/2014/main" val="2769222012"/>
                  </a:ext>
                </a:extLst>
              </a:tr>
              <a:tr h="753474">
                <a:tc>
                  <a:txBody>
                    <a:bodyPr/>
                    <a:lstStyle/>
                    <a:p>
                      <a:pPr marL="0" indent="0">
                        <a:buFont typeface="Arial" panose="020B0604020202020204" pitchFamily="34" charset="0"/>
                        <a:buNone/>
                      </a:pPr>
                      <a:r>
                        <a:rPr lang="en-US" sz="1000" b="1" dirty="0">
                          <a:latin typeface="+mn-lt"/>
                        </a:rPr>
                        <a:t>Purpose:</a:t>
                      </a:r>
                      <a:r>
                        <a:rPr lang="en-US" sz="1000" dirty="0">
                          <a:latin typeface="+mn-lt"/>
                        </a:rPr>
                        <a:t> Interactive dashboards, CO₂ charts, model comparisons, ESG reports.</a:t>
                      </a:r>
                      <a:endParaRPr lang="en-US" sz="1000" b="1" dirty="0">
                        <a:latin typeface="+mn-lt"/>
                      </a:endParaRPr>
                    </a:p>
                    <a:p>
                      <a:pPr marL="171450" indent="-171450">
                        <a:buFont typeface="Arial" panose="020B0604020202020204" pitchFamily="34" charset="0"/>
                        <a:buChar char="•"/>
                      </a:pPr>
                      <a:r>
                        <a:rPr lang="en-US" sz="1000" b="1" dirty="0">
                          <a:latin typeface="+mn-lt"/>
                        </a:rPr>
                        <a:t>React.js</a:t>
                      </a:r>
                      <a:r>
                        <a:rPr lang="en-US" sz="1000" dirty="0">
                          <a:latin typeface="+mn-lt"/>
                        </a:rPr>
                        <a:t> </a:t>
                      </a:r>
                    </a:p>
                    <a:p>
                      <a:pPr marL="171450" indent="-171450">
                        <a:buFont typeface="Arial" panose="020B0604020202020204" pitchFamily="34" charset="0"/>
                        <a:buChar char="•"/>
                      </a:pPr>
                      <a:r>
                        <a:rPr lang="en-US" sz="1000" b="1" dirty="0">
                          <a:latin typeface="+mn-lt"/>
                        </a:rPr>
                        <a:t>Next.js </a:t>
                      </a:r>
                      <a:r>
                        <a:rPr lang="en-US" sz="1000" dirty="0">
                          <a:latin typeface="+mn-lt"/>
                        </a:rPr>
                        <a:t> </a:t>
                      </a:r>
                    </a:p>
                    <a:p>
                      <a:pPr marL="171450" indent="-171450">
                        <a:buFont typeface="Arial" panose="020B0604020202020204" pitchFamily="34" charset="0"/>
                        <a:buChar char="•"/>
                      </a:pPr>
                      <a:r>
                        <a:rPr lang="en-US" sz="1000" b="1" dirty="0">
                          <a:latin typeface="+mn-lt"/>
                        </a:rPr>
                        <a:t>TypeScript</a:t>
                      </a:r>
                      <a:endParaRPr lang="en-US" sz="1000" dirty="0">
                        <a:latin typeface="+mn-lt"/>
                      </a:endParaRPr>
                    </a:p>
                  </a:txBody>
                  <a:tcPr anchor="ctr">
                    <a:solidFill>
                      <a:srgbClr val="AFECEB"/>
                    </a:solidFill>
                  </a:tcPr>
                </a:tc>
                <a:tc>
                  <a:txBody>
                    <a:bodyPr/>
                    <a:lstStyle/>
                    <a:p>
                      <a:r>
                        <a:rPr lang="en-US" sz="1000" b="1" dirty="0">
                          <a:latin typeface="+mn-lt"/>
                        </a:rPr>
                        <a:t>Purpose:</a:t>
                      </a:r>
                      <a:r>
                        <a:rPr lang="en-US" sz="1000" dirty="0">
                          <a:latin typeface="+mn-lt"/>
                        </a:rPr>
                        <a:t> Track API usage, calculate carbon emissions, deliver reports, run recommendations.</a:t>
                      </a:r>
                    </a:p>
                    <a:p>
                      <a:pPr marL="171450" indent="-171450">
                        <a:buFont typeface="Arial" panose="020B0604020202020204" pitchFamily="34" charset="0"/>
                        <a:buChar char="•"/>
                      </a:pPr>
                      <a:r>
                        <a:rPr lang="en-US" sz="1000" b="1" dirty="0">
                          <a:latin typeface="+mn-lt"/>
                        </a:rPr>
                        <a:t>Node.js + Express</a:t>
                      </a:r>
                    </a:p>
                    <a:p>
                      <a:pPr marL="171450" indent="-171450">
                        <a:buFont typeface="Arial" panose="020B0604020202020204" pitchFamily="34" charset="0"/>
                        <a:buChar char="•"/>
                      </a:pPr>
                      <a:r>
                        <a:rPr lang="en-US" sz="1000" b="1" dirty="0">
                          <a:latin typeface="+mn-lt"/>
                        </a:rPr>
                        <a:t>Python (</a:t>
                      </a:r>
                      <a:r>
                        <a:rPr lang="en-US" sz="1000" b="1" dirty="0" err="1">
                          <a:latin typeface="+mn-lt"/>
                        </a:rPr>
                        <a:t>FastAPI</a:t>
                      </a:r>
                      <a:r>
                        <a:rPr lang="en-US" sz="1000" b="1" dirty="0">
                          <a:latin typeface="+mn-lt"/>
                        </a:rPr>
                        <a:t>)</a:t>
                      </a:r>
                    </a:p>
                    <a:p>
                      <a:pPr marL="171450" indent="-171450">
                        <a:buFont typeface="Arial" panose="020B0604020202020204" pitchFamily="34" charset="0"/>
                        <a:buChar char="•"/>
                      </a:pPr>
                      <a:r>
                        <a:rPr lang="en-US" sz="1000" b="1" dirty="0">
                          <a:latin typeface="+mn-lt"/>
                        </a:rPr>
                        <a:t>REST API’S</a:t>
                      </a:r>
                    </a:p>
                  </a:txBody>
                  <a:tcPr anchor="ctr">
                    <a:solidFill>
                      <a:srgbClr val="AFECEB"/>
                    </a:solidFill>
                  </a:tcPr>
                </a:tc>
                <a:tc>
                  <a:txBody>
                    <a:bodyPr/>
                    <a:lstStyle/>
                    <a:p>
                      <a:r>
                        <a:rPr lang="en-US" sz="1000" b="1" dirty="0">
                          <a:latin typeface="+mn-lt"/>
                        </a:rPr>
                        <a:t>Purpose:</a:t>
                      </a:r>
                      <a:r>
                        <a:rPr lang="en-US" sz="1000" dirty="0">
                          <a:latin typeface="+mn-lt"/>
                        </a:rPr>
                        <a:t> Store logs, emission metrics, model metadata, user settings.</a:t>
                      </a:r>
                    </a:p>
                    <a:p>
                      <a:pPr marL="171450" indent="-171450">
                        <a:buFont typeface="Arial" panose="020B0604020202020204" pitchFamily="34" charset="0"/>
                        <a:buChar char="•"/>
                      </a:pPr>
                      <a:r>
                        <a:rPr lang="en-US" sz="1000" b="1" dirty="0">
                          <a:latin typeface="+mn-lt"/>
                        </a:rPr>
                        <a:t>PostgreSQL</a:t>
                      </a:r>
                      <a:r>
                        <a:rPr lang="en-US" sz="1000" dirty="0">
                          <a:latin typeface="+mn-lt"/>
                        </a:rPr>
                        <a:t> </a:t>
                      </a:r>
                    </a:p>
                    <a:p>
                      <a:pPr marL="171450" indent="-171450">
                        <a:buFont typeface="Arial" panose="020B0604020202020204" pitchFamily="34" charset="0"/>
                        <a:buChar char="•"/>
                      </a:pPr>
                      <a:r>
                        <a:rPr lang="en-US" sz="1000" b="1" dirty="0" err="1">
                          <a:latin typeface="+mn-lt"/>
                        </a:rPr>
                        <a:t>TimescaleDB</a:t>
                      </a:r>
                      <a:endParaRPr lang="en-US" sz="1000" b="1" dirty="0">
                        <a:latin typeface="+mn-lt"/>
                      </a:endParaRPr>
                    </a:p>
                    <a:p>
                      <a:pPr marL="171450" indent="-171450">
                        <a:buFont typeface="Arial" panose="020B0604020202020204" pitchFamily="34" charset="0"/>
                        <a:buChar char="•"/>
                      </a:pPr>
                      <a:r>
                        <a:rPr lang="en-US" sz="1000" b="1" dirty="0">
                          <a:latin typeface="+mn-lt"/>
                        </a:rPr>
                        <a:t>AWS S3</a:t>
                      </a:r>
                    </a:p>
                    <a:p>
                      <a:pPr marL="171450" indent="-171450">
                        <a:buFont typeface="Arial" panose="020B0604020202020204" pitchFamily="34" charset="0"/>
                        <a:buChar char="•"/>
                      </a:pPr>
                      <a:endParaRPr lang="en-US" sz="1000" dirty="0">
                        <a:latin typeface="+mn-lt"/>
                      </a:endParaRPr>
                    </a:p>
                  </a:txBody>
                  <a:tcPr anchor="ctr">
                    <a:solidFill>
                      <a:srgbClr val="AFECEB"/>
                    </a:solidFill>
                  </a:tcPr>
                </a:tc>
                <a:tc>
                  <a:txBody>
                    <a:bodyPr/>
                    <a:lstStyle/>
                    <a:p>
                      <a:r>
                        <a:rPr lang="en-US" sz="1000" b="1" dirty="0"/>
                        <a:t>Purpose:</a:t>
                      </a:r>
                      <a:r>
                        <a:rPr lang="en-US" sz="1000" dirty="0"/>
                        <a:t> Deployment, scalability, observability, monitoring.</a:t>
                      </a:r>
                      <a:endParaRPr lang="en-US" sz="1000" dirty="0">
                        <a:latin typeface="+mn-lt"/>
                      </a:endParaRPr>
                    </a:p>
                    <a:p>
                      <a:pPr marL="171450" indent="-171450">
                        <a:buFont typeface="Arial" panose="020B0604020202020204" pitchFamily="34" charset="0"/>
                        <a:buChar char="•"/>
                      </a:pPr>
                      <a:r>
                        <a:rPr lang="en-US" sz="1000" b="1" dirty="0">
                          <a:latin typeface="+mn-lt"/>
                        </a:rPr>
                        <a:t>AWS</a:t>
                      </a:r>
                    </a:p>
                    <a:p>
                      <a:pPr marL="171450" indent="-171450">
                        <a:buFont typeface="Arial" panose="020B0604020202020204" pitchFamily="34" charset="0"/>
                        <a:buChar char="•"/>
                      </a:pPr>
                      <a:r>
                        <a:rPr lang="en-US" sz="1000" b="1" dirty="0">
                          <a:latin typeface="+mn-lt"/>
                        </a:rPr>
                        <a:t>Docker</a:t>
                      </a:r>
                    </a:p>
                    <a:p>
                      <a:pPr marL="171450" indent="-171450">
                        <a:buFont typeface="Arial" panose="020B0604020202020204" pitchFamily="34" charset="0"/>
                        <a:buChar char="•"/>
                      </a:pPr>
                      <a:r>
                        <a:rPr lang="en-US" sz="1000" b="1" dirty="0">
                          <a:latin typeface="+mn-lt"/>
                        </a:rPr>
                        <a:t>Kubernetes</a:t>
                      </a:r>
                    </a:p>
                    <a:p>
                      <a:pPr marL="171450" indent="-171450">
                        <a:buFont typeface="Arial" panose="020B0604020202020204" pitchFamily="34" charset="0"/>
                        <a:buChar char="•"/>
                      </a:pPr>
                      <a:endParaRPr lang="en-US" sz="1000" b="1" dirty="0">
                        <a:latin typeface="+mn-lt"/>
                      </a:endParaRPr>
                    </a:p>
                  </a:txBody>
                  <a:tcPr anchor="ctr">
                    <a:solidFill>
                      <a:srgbClr val="AFECEB"/>
                    </a:solidFill>
                  </a:tcPr>
                </a:tc>
                <a:tc>
                  <a:txBody>
                    <a:bodyPr/>
                    <a:lstStyle/>
                    <a:p>
                      <a:r>
                        <a:rPr lang="en-US" sz="1000" b="1" dirty="0"/>
                        <a:t>Purpose:</a:t>
                      </a:r>
                      <a:r>
                        <a:rPr lang="en-US" sz="1000" dirty="0"/>
                        <a:t> Ensure the platform works correctly, from API calls to emission calculations.</a:t>
                      </a:r>
                      <a:endParaRPr lang="en-US" sz="1000" dirty="0">
                        <a:latin typeface="+mn-lt"/>
                      </a:endParaRPr>
                    </a:p>
                    <a:p>
                      <a:pPr marL="171450" indent="-171450">
                        <a:buFont typeface="Arial" panose="020B0604020202020204" pitchFamily="34" charset="0"/>
                        <a:buChar char="•"/>
                      </a:pPr>
                      <a:r>
                        <a:rPr lang="en-US" sz="1000" b="1" dirty="0">
                          <a:latin typeface="+mn-lt"/>
                        </a:rPr>
                        <a:t>Jest</a:t>
                      </a:r>
                    </a:p>
                    <a:p>
                      <a:pPr marL="171450" indent="-171450">
                        <a:buFont typeface="Arial" panose="020B0604020202020204" pitchFamily="34" charset="0"/>
                        <a:buChar char="•"/>
                      </a:pPr>
                      <a:r>
                        <a:rPr lang="en-US" sz="1000" b="1" dirty="0" err="1">
                          <a:latin typeface="+mn-lt"/>
                        </a:rPr>
                        <a:t>Pytest</a:t>
                      </a:r>
                      <a:endParaRPr lang="en-US" sz="1000" b="1" dirty="0">
                        <a:latin typeface="+mn-lt"/>
                      </a:endParaRPr>
                    </a:p>
                    <a:p>
                      <a:pPr marL="171450" indent="-171450">
                        <a:buFont typeface="Arial" panose="020B0604020202020204" pitchFamily="34" charset="0"/>
                        <a:buChar char="•"/>
                      </a:pPr>
                      <a:r>
                        <a:rPr lang="en-US" sz="1000" b="1" dirty="0">
                          <a:latin typeface="+mn-lt"/>
                        </a:rPr>
                        <a:t>Locust</a:t>
                      </a:r>
                    </a:p>
                  </a:txBody>
                  <a:tcPr anchor="ctr">
                    <a:solidFill>
                      <a:srgbClr val="AFECEB"/>
                    </a:solidFill>
                  </a:tcPr>
                </a:tc>
                <a:tc>
                  <a:txBody>
                    <a:bodyPr/>
                    <a:lstStyle/>
                    <a:p>
                      <a:pPr marL="0" indent="0">
                        <a:buFont typeface="Arial" panose="020B0604020202020204" pitchFamily="34" charset="0"/>
                        <a:buNone/>
                      </a:pPr>
                      <a:r>
                        <a:rPr lang="en-US" sz="1000" b="1" dirty="0"/>
                        <a:t>Purpose:</a:t>
                      </a:r>
                      <a:r>
                        <a:rPr lang="en-US" sz="1000" dirty="0"/>
                        <a:t> Protect usage logs, prevent tampering, secure API calls.</a:t>
                      </a:r>
                    </a:p>
                    <a:p>
                      <a:pPr marL="171450" indent="-171450">
                        <a:buFont typeface="Arial" panose="020B0604020202020204" pitchFamily="34" charset="0"/>
                        <a:buChar char="•"/>
                      </a:pPr>
                      <a:r>
                        <a:rPr lang="en-US" sz="1000" b="1" dirty="0"/>
                        <a:t>OAuth 2.0</a:t>
                      </a:r>
                    </a:p>
                    <a:p>
                      <a:pPr marL="171450" indent="-171450">
                        <a:buFont typeface="Arial" panose="020B0604020202020204" pitchFamily="34" charset="0"/>
                        <a:buChar char="•"/>
                      </a:pPr>
                      <a:r>
                        <a:rPr lang="en-US" sz="1000" b="1" dirty="0"/>
                        <a:t>API Gateway</a:t>
                      </a:r>
                    </a:p>
                    <a:p>
                      <a:pPr marL="171450" indent="-171450">
                        <a:buFont typeface="Arial" panose="020B0604020202020204" pitchFamily="34" charset="0"/>
                        <a:buChar char="•"/>
                      </a:pPr>
                      <a:r>
                        <a:rPr lang="en-US" sz="1000" b="1" dirty="0"/>
                        <a:t>Encryption AES-256 at REST</a:t>
                      </a:r>
                      <a:endParaRPr lang="en-US" sz="1000" dirty="0">
                        <a:latin typeface="+mn-lt"/>
                      </a:endParaRPr>
                    </a:p>
                  </a:txBody>
                  <a:tcPr anchor="ctr">
                    <a:solidFill>
                      <a:srgbClr val="AFECEB"/>
                    </a:solidFill>
                  </a:tcPr>
                </a:tc>
                <a:tc>
                  <a:txBody>
                    <a:bodyPr/>
                    <a:lstStyle/>
                    <a:p>
                      <a:r>
                        <a:rPr lang="en-US" sz="1000" b="1" dirty="0"/>
                        <a:t>Purpose:</a:t>
                      </a:r>
                      <a:r>
                        <a:rPr lang="en-US" sz="1000" dirty="0"/>
                        <a:t> Documentation, tracking tasks, sharing design work.</a:t>
                      </a:r>
                      <a:endParaRPr lang="en-US" sz="1000" dirty="0">
                        <a:latin typeface="+mn-lt"/>
                      </a:endParaRPr>
                    </a:p>
                    <a:p>
                      <a:pPr marL="171450" indent="-171450">
                        <a:buFont typeface="Arial" panose="020B0604020202020204" pitchFamily="34" charset="0"/>
                        <a:buChar char="•"/>
                      </a:pPr>
                      <a:r>
                        <a:rPr lang="en-US" sz="1000" b="1" dirty="0">
                          <a:latin typeface="+mn-lt"/>
                        </a:rPr>
                        <a:t>Jira</a:t>
                      </a:r>
                    </a:p>
                    <a:p>
                      <a:pPr marL="171450" indent="-171450">
                        <a:buFont typeface="Arial" panose="020B0604020202020204" pitchFamily="34" charset="0"/>
                        <a:buChar char="•"/>
                      </a:pPr>
                      <a:r>
                        <a:rPr lang="en-US" sz="1000" b="1" dirty="0">
                          <a:latin typeface="+mn-lt"/>
                        </a:rPr>
                        <a:t>Figma</a:t>
                      </a:r>
                    </a:p>
                    <a:p>
                      <a:pPr marL="171450" indent="-171450">
                        <a:buFont typeface="Arial" panose="020B0604020202020204" pitchFamily="34" charset="0"/>
                        <a:buChar char="•"/>
                      </a:pPr>
                      <a:r>
                        <a:rPr lang="en-US" sz="1000" b="1" dirty="0">
                          <a:latin typeface="+mn-lt"/>
                        </a:rPr>
                        <a:t>Miro</a:t>
                      </a:r>
                    </a:p>
                    <a:p>
                      <a:pPr marL="0" indent="0">
                        <a:buFont typeface="Arial" panose="020B0604020202020204" pitchFamily="34" charset="0"/>
                        <a:buNone/>
                      </a:pPr>
                      <a:endParaRPr lang="en-US" sz="1000" b="1" dirty="0">
                        <a:latin typeface="+mn-lt"/>
                      </a:endParaRPr>
                    </a:p>
                  </a:txBody>
                  <a:tcPr anchor="ctr">
                    <a:solidFill>
                      <a:srgbClr val="AFECEB"/>
                    </a:solidFill>
                  </a:tcPr>
                </a:tc>
                <a:extLst>
                  <a:ext uri="{0D108BD9-81ED-4DB2-BD59-A6C34878D82A}">
                    <a16:rowId xmlns:a16="http://schemas.microsoft.com/office/drawing/2014/main" val="2416083270"/>
                  </a:ext>
                </a:extLst>
              </a:tr>
            </a:tbl>
          </a:graphicData>
        </a:graphic>
      </p:graphicFrame>
      <p:pic>
        <p:nvPicPr>
          <p:cNvPr id="26" name="Graphic 25" descr="Person with idea with solid fill">
            <a:extLst>
              <a:ext uri="{FF2B5EF4-FFF2-40B4-BE49-F238E27FC236}">
                <a16:creationId xmlns:a16="http://schemas.microsoft.com/office/drawing/2014/main" id="{73409CC7-F032-E979-796E-94963A8097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0" y="3739750"/>
            <a:ext cx="605246" cy="605246"/>
          </a:xfrm>
          <a:prstGeom prst="rect">
            <a:avLst/>
          </a:prstGeom>
        </p:spPr>
      </p:pic>
      <p:grpSp>
        <p:nvGrpSpPr>
          <p:cNvPr id="45" name="Group 44">
            <a:extLst>
              <a:ext uri="{FF2B5EF4-FFF2-40B4-BE49-F238E27FC236}">
                <a16:creationId xmlns:a16="http://schemas.microsoft.com/office/drawing/2014/main" id="{7ECAE537-AD9F-D34E-FD9E-D28F26000652}"/>
              </a:ext>
            </a:extLst>
          </p:cNvPr>
          <p:cNvGrpSpPr/>
          <p:nvPr/>
        </p:nvGrpSpPr>
        <p:grpSpPr>
          <a:xfrm>
            <a:off x="634506" y="3397978"/>
            <a:ext cx="11539154" cy="1176846"/>
            <a:chOff x="634506" y="3397978"/>
            <a:chExt cx="11539154" cy="1072596"/>
          </a:xfrm>
        </p:grpSpPr>
        <p:grpSp>
          <p:nvGrpSpPr>
            <p:cNvPr id="27" name="Group 26">
              <a:extLst>
                <a:ext uri="{FF2B5EF4-FFF2-40B4-BE49-F238E27FC236}">
                  <a16:creationId xmlns:a16="http://schemas.microsoft.com/office/drawing/2014/main" id="{D0F26C9F-339C-479E-33DD-1E9901E27D31}"/>
                </a:ext>
              </a:extLst>
            </p:cNvPr>
            <p:cNvGrpSpPr/>
            <p:nvPr/>
          </p:nvGrpSpPr>
          <p:grpSpPr>
            <a:xfrm>
              <a:off x="634507" y="3397978"/>
              <a:ext cx="11539153" cy="265727"/>
              <a:chOff x="4890764" y="875369"/>
              <a:chExt cx="2142620" cy="857048"/>
            </a:xfrm>
            <a:solidFill>
              <a:srgbClr val="008080"/>
            </a:solidFill>
          </p:grpSpPr>
          <p:sp>
            <p:nvSpPr>
              <p:cNvPr id="31" name="Rectangle 30">
                <a:extLst>
                  <a:ext uri="{FF2B5EF4-FFF2-40B4-BE49-F238E27FC236}">
                    <a16:creationId xmlns:a16="http://schemas.microsoft.com/office/drawing/2014/main" id="{EC2B19E7-E57C-87FB-6947-7A2324767600}"/>
                  </a:ext>
                </a:extLst>
              </p:cNvPr>
              <p:cNvSpPr/>
              <p:nvPr/>
            </p:nvSpPr>
            <p:spPr>
              <a:xfrm>
                <a:off x="4890764" y="875369"/>
                <a:ext cx="2142620" cy="857048"/>
              </a:xfrm>
              <a:prstGeom prst="rect">
                <a:avLst/>
              </a:prstGeom>
              <a:grpFill/>
            </p:spPr>
            <p:style>
              <a:lnRef idx="2">
                <a:schemeClr val="accent5">
                  <a:hueOff val="-3379271"/>
                  <a:satOff val="-8710"/>
                  <a:lumOff val="-5883"/>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nchor="ctr"/>
              <a:lstStyle/>
              <a:p>
                <a:endParaRPr lang="en-US"/>
              </a:p>
            </p:txBody>
          </p:sp>
          <p:sp>
            <p:nvSpPr>
              <p:cNvPr id="32" name="TextBox 31">
                <a:extLst>
                  <a:ext uri="{FF2B5EF4-FFF2-40B4-BE49-F238E27FC236}">
                    <a16:creationId xmlns:a16="http://schemas.microsoft.com/office/drawing/2014/main" id="{D62195E5-B757-80E8-459E-A7B8B54D0138}"/>
                  </a:ext>
                </a:extLst>
              </p:cNvPr>
              <p:cNvSpPr txBox="1"/>
              <p:nvPr/>
            </p:nvSpPr>
            <p:spPr>
              <a:xfrm>
                <a:off x="4890764" y="875369"/>
                <a:ext cx="2142620" cy="85704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568" tIns="56896" rIns="99568" bIns="56896" numCol="1" spcCol="1270" anchor="ctr" anchorCtr="0">
                <a:noAutofit/>
              </a:bodyPr>
              <a:lstStyle/>
              <a:p>
                <a:pPr marL="0" lvl="0" indent="0" defTabSz="622300">
                  <a:lnSpc>
                    <a:spcPct val="90000"/>
                  </a:lnSpc>
                  <a:spcBef>
                    <a:spcPct val="0"/>
                  </a:spcBef>
                  <a:spcAft>
                    <a:spcPct val="35000"/>
                  </a:spcAft>
                  <a:buNone/>
                </a:pPr>
                <a:r>
                  <a:rPr lang="en-US" sz="1400" b="1" kern="1200" dirty="0">
                    <a:latin typeface="+mn-lt"/>
                  </a:rPr>
                  <a:t>Recommended or Best Possible Solution(s):</a:t>
                </a:r>
                <a:endParaRPr lang="de-DE" sz="1400" b="1" kern="1200" dirty="0">
                  <a:latin typeface="+mn-lt"/>
                </a:endParaRPr>
              </a:p>
            </p:txBody>
          </p:sp>
        </p:grpSp>
        <p:grpSp>
          <p:nvGrpSpPr>
            <p:cNvPr id="28" name="Group 27">
              <a:extLst>
                <a:ext uri="{FF2B5EF4-FFF2-40B4-BE49-F238E27FC236}">
                  <a16:creationId xmlns:a16="http://schemas.microsoft.com/office/drawing/2014/main" id="{1DBDC1C7-77A9-A866-300F-4CF667B7C8AF}"/>
                </a:ext>
              </a:extLst>
            </p:cNvPr>
            <p:cNvGrpSpPr/>
            <p:nvPr/>
          </p:nvGrpSpPr>
          <p:grpSpPr>
            <a:xfrm>
              <a:off x="634506" y="3663706"/>
              <a:ext cx="11539153" cy="806868"/>
              <a:chOff x="4890764" y="1732417"/>
              <a:chExt cx="2142620" cy="2810880"/>
            </a:xfrm>
            <a:solidFill>
              <a:srgbClr val="DDFFFF"/>
            </a:solidFill>
          </p:grpSpPr>
          <p:sp>
            <p:nvSpPr>
              <p:cNvPr id="29" name="Rectangle 28">
                <a:extLst>
                  <a:ext uri="{FF2B5EF4-FFF2-40B4-BE49-F238E27FC236}">
                    <a16:creationId xmlns:a16="http://schemas.microsoft.com/office/drawing/2014/main" id="{8E8A08DF-397A-1903-C83E-105E1A396568}"/>
                  </a:ext>
                </a:extLst>
              </p:cNvPr>
              <p:cNvSpPr/>
              <p:nvPr/>
            </p:nvSpPr>
            <p:spPr>
              <a:xfrm>
                <a:off x="4890764" y="1732417"/>
                <a:ext cx="2142620" cy="2810880"/>
              </a:xfrm>
              <a:prstGeom prst="rect">
                <a:avLst/>
              </a:prstGeom>
              <a:grpFill/>
            </p:spPr>
            <p:style>
              <a:lnRef idx="2">
                <a:schemeClr val="accent5">
                  <a:tint val="40000"/>
                  <a:alpha val="90000"/>
                  <a:hueOff val="-3369881"/>
                  <a:satOff val="-11416"/>
                  <a:lumOff val="-1464"/>
                  <a:alphaOff val="0"/>
                </a:schemeClr>
              </a:lnRef>
              <a:fillRef idx="1">
                <a:schemeClr val="accent5">
                  <a:tint val="40000"/>
                  <a:alpha val="90000"/>
                  <a:hueOff val="-3369881"/>
                  <a:satOff val="-11416"/>
                  <a:lumOff val="-1464"/>
                  <a:alphaOff val="0"/>
                </a:schemeClr>
              </a:fillRef>
              <a:effectRef idx="0">
                <a:schemeClr val="accent5">
                  <a:tint val="40000"/>
                  <a:alpha val="90000"/>
                  <a:hueOff val="-3369881"/>
                  <a:satOff val="-11416"/>
                  <a:lumOff val="-1464"/>
                  <a:alphaOff val="0"/>
                </a:schemeClr>
              </a:effectRef>
              <a:fontRef idx="minor">
                <a:schemeClr val="dk1">
                  <a:hueOff val="0"/>
                  <a:satOff val="0"/>
                  <a:lumOff val="0"/>
                  <a:alphaOff val="0"/>
                </a:schemeClr>
              </a:fontRef>
            </p:style>
            <p:txBody>
              <a:bodyPr anchor="ctr"/>
              <a:lstStyle/>
              <a:p>
                <a:endParaRPr lang="en-US"/>
              </a:p>
            </p:txBody>
          </p:sp>
          <p:sp>
            <p:nvSpPr>
              <p:cNvPr id="30" name="TextBox 29">
                <a:extLst>
                  <a:ext uri="{FF2B5EF4-FFF2-40B4-BE49-F238E27FC236}">
                    <a16:creationId xmlns:a16="http://schemas.microsoft.com/office/drawing/2014/main" id="{DD887F7A-B6B3-1818-393B-6A4E4457ED0A}"/>
                  </a:ext>
                </a:extLst>
              </p:cNvPr>
              <p:cNvSpPr txBox="1"/>
              <p:nvPr/>
            </p:nvSpPr>
            <p:spPr>
              <a:xfrm>
                <a:off x="4890764" y="1732417"/>
                <a:ext cx="2142620" cy="2810880"/>
              </a:xfrm>
              <a:prstGeom prst="rect">
                <a:avLst/>
              </a:prstGeom>
              <a:solidFill>
                <a:srgbClr val="AFECEB"/>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endParaRPr lang="de-DE" sz="1200" kern="1200">
                  <a:latin typeface="+mn-lt"/>
                </a:endParaRPr>
              </a:p>
              <a:p>
                <a:pPr marL="114300" lvl="1" indent="-114300" algn="l" defTabSz="533400">
                  <a:lnSpc>
                    <a:spcPct val="90000"/>
                  </a:lnSpc>
                  <a:spcBef>
                    <a:spcPct val="0"/>
                  </a:spcBef>
                  <a:spcAft>
                    <a:spcPct val="15000"/>
                  </a:spcAft>
                  <a:buChar char="•"/>
                </a:pPr>
                <a:endParaRPr lang="de-DE" sz="1200" kern="1200">
                  <a:latin typeface="+mn-lt"/>
                </a:endParaRPr>
              </a:p>
            </p:txBody>
          </p:sp>
        </p:grpSp>
      </p:grpSp>
      <p:pic>
        <p:nvPicPr>
          <p:cNvPr id="33" name="Graphic 32" descr="Blueprint with solid fill">
            <a:extLst>
              <a:ext uri="{FF2B5EF4-FFF2-40B4-BE49-F238E27FC236}">
                <a16:creationId xmlns:a16="http://schemas.microsoft.com/office/drawing/2014/main" id="{C8599387-6070-B1A3-947F-F70B945AB7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220" y="4785629"/>
            <a:ext cx="477134" cy="477134"/>
          </a:xfrm>
          <a:prstGeom prst="rect">
            <a:avLst/>
          </a:prstGeom>
        </p:spPr>
      </p:pic>
      <p:grpSp>
        <p:nvGrpSpPr>
          <p:cNvPr id="44" name="Group 43">
            <a:extLst>
              <a:ext uri="{FF2B5EF4-FFF2-40B4-BE49-F238E27FC236}">
                <a16:creationId xmlns:a16="http://schemas.microsoft.com/office/drawing/2014/main" id="{657AA3D2-02BF-3755-0C32-1470B0A41CF3}"/>
              </a:ext>
            </a:extLst>
          </p:cNvPr>
          <p:cNvGrpSpPr/>
          <p:nvPr/>
        </p:nvGrpSpPr>
        <p:grpSpPr>
          <a:xfrm>
            <a:off x="634506" y="4583659"/>
            <a:ext cx="11539154" cy="1107893"/>
            <a:chOff x="634505" y="4485573"/>
            <a:chExt cx="11539154" cy="971301"/>
          </a:xfrm>
        </p:grpSpPr>
        <p:grpSp>
          <p:nvGrpSpPr>
            <p:cNvPr id="34" name="Group 33">
              <a:extLst>
                <a:ext uri="{FF2B5EF4-FFF2-40B4-BE49-F238E27FC236}">
                  <a16:creationId xmlns:a16="http://schemas.microsoft.com/office/drawing/2014/main" id="{B5B2067C-5CB0-FEED-5AB7-8C2CD6AB7228}"/>
                </a:ext>
              </a:extLst>
            </p:cNvPr>
            <p:cNvGrpSpPr/>
            <p:nvPr/>
          </p:nvGrpSpPr>
          <p:grpSpPr>
            <a:xfrm>
              <a:off x="634505" y="4485573"/>
              <a:ext cx="11519951" cy="266268"/>
              <a:chOff x="7333352" y="875369"/>
              <a:chExt cx="2142620" cy="857048"/>
            </a:xfrm>
            <a:solidFill>
              <a:srgbClr val="008080"/>
            </a:solidFill>
          </p:grpSpPr>
          <p:sp>
            <p:nvSpPr>
              <p:cNvPr id="36" name="Rectangle 35">
                <a:extLst>
                  <a:ext uri="{FF2B5EF4-FFF2-40B4-BE49-F238E27FC236}">
                    <a16:creationId xmlns:a16="http://schemas.microsoft.com/office/drawing/2014/main" id="{5D11EFC0-D92B-FE33-DC79-96BBC26A9D59}"/>
                  </a:ext>
                </a:extLst>
              </p:cNvPr>
              <p:cNvSpPr/>
              <p:nvPr/>
            </p:nvSpPr>
            <p:spPr>
              <a:xfrm>
                <a:off x="7333352" y="875369"/>
                <a:ext cx="2142620" cy="857048"/>
              </a:xfrm>
              <a:prstGeom prst="rect">
                <a:avLst/>
              </a:prstGeom>
              <a:grpFill/>
            </p:spPr>
            <p:style>
              <a:lnRef idx="2">
                <a:schemeClr val="accent5">
                  <a:hueOff val="-5068907"/>
                  <a:satOff val="-13064"/>
                  <a:lumOff val="-8824"/>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anchor="ctr"/>
              <a:lstStyle/>
              <a:p>
                <a:endParaRPr lang="en-US"/>
              </a:p>
            </p:txBody>
          </p:sp>
          <p:sp>
            <p:nvSpPr>
              <p:cNvPr id="37" name="TextBox 36">
                <a:extLst>
                  <a:ext uri="{FF2B5EF4-FFF2-40B4-BE49-F238E27FC236}">
                    <a16:creationId xmlns:a16="http://schemas.microsoft.com/office/drawing/2014/main" id="{15FC3421-AB64-B144-F20E-D5AA87F2788B}"/>
                  </a:ext>
                </a:extLst>
              </p:cNvPr>
              <p:cNvSpPr txBox="1"/>
              <p:nvPr/>
            </p:nvSpPr>
            <p:spPr>
              <a:xfrm>
                <a:off x="7333352" y="875369"/>
                <a:ext cx="2142620" cy="85704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568" tIns="56896" rIns="99568" bIns="56896" numCol="1" spcCol="1270" anchor="ctr" anchorCtr="0">
                <a:noAutofit/>
              </a:bodyPr>
              <a:lstStyle/>
              <a:p>
                <a:pPr marL="0" lvl="0" indent="0" defTabSz="622300">
                  <a:lnSpc>
                    <a:spcPct val="90000"/>
                  </a:lnSpc>
                  <a:spcBef>
                    <a:spcPct val="0"/>
                  </a:spcBef>
                  <a:spcAft>
                    <a:spcPct val="35000"/>
                  </a:spcAft>
                  <a:buNone/>
                </a:pPr>
                <a:r>
                  <a:rPr lang="en-US" sz="1400" b="1" kern="1200" dirty="0">
                    <a:latin typeface="+mn-lt"/>
                  </a:rPr>
                  <a:t>Solution Implementation Plan:</a:t>
                </a:r>
                <a:endParaRPr lang="de-DE" sz="1400" b="1" kern="1200" dirty="0">
                  <a:latin typeface="+mn-lt"/>
                </a:endParaRPr>
              </a:p>
            </p:txBody>
          </p:sp>
        </p:grpSp>
        <p:sp>
          <p:nvSpPr>
            <p:cNvPr id="35" name="Rectangle 34">
              <a:extLst>
                <a:ext uri="{FF2B5EF4-FFF2-40B4-BE49-F238E27FC236}">
                  <a16:creationId xmlns:a16="http://schemas.microsoft.com/office/drawing/2014/main" id="{2898462D-CCA2-F9EA-28A1-A7F1903EA73A}"/>
                </a:ext>
              </a:extLst>
            </p:cNvPr>
            <p:cNvSpPr/>
            <p:nvPr/>
          </p:nvSpPr>
          <p:spPr>
            <a:xfrm>
              <a:off x="653708" y="4757098"/>
              <a:ext cx="11519951" cy="699776"/>
            </a:xfrm>
            <a:prstGeom prst="rect">
              <a:avLst/>
            </a:prstGeom>
            <a:solidFill>
              <a:srgbClr val="AFECEB">
                <a:alpha val="90000"/>
              </a:srgbClr>
            </a:solidFill>
          </p:spPr>
          <p:style>
            <a:lnRef idx="2">
              <a:schemeClr val="accent5">
                <a:tint val="40000"/>
                <a:alpha val="90000"/>
                <a:hueOff val="-5054821"/>
                <a:satOff val="-17124"/>
                <a:lumOff val="-2196"/>
                <a:alphaOff val="0"/>
              </a:schemeClr>
            </a:lnRef>
            <a:fillRef idx="1">
              <a:schemeClr val="accent5">
                <a:tint val="40000"/>
                <a:alpha val="90000"/>
                <a:hueOff val="-5054821"/>
                <a:satOff val="-17124"/>
                <a:lumOff val="-2196"/>
                <a:alphaOff val="0"/>
              </a:schemeClr>
            </a:fillRef>
            <a:effectRef idx="0">
              <a:schemeClr val="accent5">
                <a:tint val="40000"/>
                <a:alpha val="90000"/>
                <a:hueOff val="-5054821"/>
                <a:satOff val="-17124"/>
                <a:lumOff val="-2196"/>
                <a:alphaOff val="0"/>
              </a:schemeClr>
            </a:effectRef>
            <a:fontRef idx="minor">
              <a:schemeClr val="dk1">
                <a:hueOff val="0"/>
                <a:satOff val="0"/>
                <a:lumOff val="0"/>
                <a:alphaOff val="0"/>
              </a:schemeClr>
            </a:fontRef>
          </p:style>
          <p:txBody>
            <a:bodyPr anchor="ctr"/>
            <a:lstStyle/>
            <a:p>
              <a:endParaRPr lang="en-US"/>
            </a:p>
          </p:txBody>
        </p:sp>
      </p:grpSp>
      <p:pic>
        <p:nvPicPr>
          <p:cNvPr id="38" name="Graphic 37" descr="Diamond with solid fill">
            <a:extLst>
              <a:ext uri="{FF2B5EF4-FFF2-40B4-BE49-F238E27FC236}">
                <a16:creationId xmlns:a16="http://schemas.microsoft.com/office/drawing/2014/main" id="{F219B78A-5329-9986-F4C1-19E45C9F13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1220" y="6097794"/>
            <a:ext cx="477134" cy="477134"/>
          </a:xfrm>
          <a:prstGeom prst="rect">
            <a:avLst/>
          </a:prstGeom>
        </p:spPr>
      </p:pic>
      <p:grpSp>
        <p:nvGrpSpPr>
          <p:cNvPr id="43" name="Group 42">
            <a:extLst>
              <a:ext uri="{FF2B5EF4-FFF2-40B4-BE49-F238E27FC236}">
                <a16:creationId xmlns:a16="http://schemas.microsoft.com/office/drawing/2014/main" id="{159299D1-8A53-AC7A-37C6-4BF26C9D8989}"/>
              </a:ext>
            </a:extLst>
          </p:cNvPr>
          <p:cNvGrpSpPr/>
          <p:nvPr/>
        </p:nvGrpSpPr>
        <p:grpSpPr>
          <a:xfrm>
            <a:off x="653708" y="5700387"/>
            <a:ext cx="11539154" cy="1157613"/>
            <a:chOff x="653707" y="5472376"/>
            <a:chExt cx="11539154" cy="992985"/>
          </a:xfrm>
        </p:grpSpPr>
        <p:grpSp>
          <p:nvGrpSpPr>
            <p:cNvPr id="39" name="Group 38">
              <a:extLst>
                <a:ext uri="{FF2B5EF4-FFF2-40B4-BE49-F238E27FC236}">
                  <a16:creationId xmlns:a16="http://schemas.microsoft.com/office/drawing/2014/main" id="{F81934F4-E3B1-BD1D-9395-2D0520CE28B2}"/>
                </a:ext>
              </a:extLst>
            </p:cNvPr>
            <p:cNvGrpSpPr/>
            <p:nvPr/>
          </p:nvGrpSpPr>
          <p:grpSpPr>
            <a:xfrm>
              <a:off x="653707" y="5472376"/>
              <a:ext cx="11539154" cy="222621"/>
              <a:chOff x="9775939" y="875369"/>
              <a:chExt cx="2142620" cy="857048"/>
            </a:xfrm>
            <a:solidFill>
              <a:srgbClr val="008080"/>
            </a:solidFill>
          </p:grpSpPr>
          <p:sp>
            <p:nvSpPr>
              <p:cNvPr id="41" name="Rectangle 40">
                <a:extLst>
                  <a:ext uri="{FF2B5EF4-FFF2-40B4-BE49-F238E27FC236}">
                    <a16:creationId xmlns:a16="http://schemas.microsoft.com/office/drawing/2014/main" id="{00E82B4D-75C8-1A2C-A4BA-19262D4557C6}"/>
                  </a:ext>
                </a:extLst>
              </p:cNvPr>
              <p:cNvSpPr/>
              <p:nvPr/>
            </p:nvSpPr>
            <p:spPr>
              <a:xfrm>
                <a:off x="9775939" y="875369"/>
                <a:ext cx="2142620" cy="857048"/>
              </a:xfrm>
              <a:prstGeom prst="rect">
                <a:avLst/>
              </a:prstGeom>
              <a:grpFill/>
            </p:spPr>
            <p:style>
              <a:lnRef idx="2">
                <a:schemeClr val="accent5">
                  <a:hueOff val="-6758543"/>
                  <a:satOff val="-17419"/>
                  <a:lumOff val="-11765"/>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nchor="ctr"/>
              <a:lstStyle/>
              <a:p>
                <a:endParaRPr lang="en-US"/>
              </a:p>
            </p:txBody>
          </p:sp>
          <p:sp>
            <p:nvSpPr>
              <p:cNvPr id="42" name="TextBox 41">
                <a:extLst>
                  <a:ext uri="{FF2B5EF4-FFF2-40B4-BE49-F238E27FC236}">
                    <a16:creationId xmlns:a16="http://schemas.microsoft.com/office/drawing/2014/main" id="{4583CDBC-4E68-5FC0-5C5F-406A6CA0125C}"/>
                  </a:ext>
                </a:extLst>
              </p:cNvPr>
              <p:cNvSpPr txBox="1"/>
              <p:nvPr/>
            </p:nvSpPr>
            <p:spPr>
              <a:xfrm>
                <a:off x="9775939" y="875369"/>
                <a:ext cx="2142620" cy="85704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568" tIns="56896" rIns="99568" bIns="56896" numCol="1" spcCol="1270" anchor="ctr" anchorCtr="0">
                <a:noAutofit/>
              </a:bodyPr>
              <a:lstStyle/>
              <a:p>
                <a:pPr marL="0" lvl="0" indent="0" defTabSz="622300">
                  <a:lnSpc>
                    <a:spcPct val="90000"/>
                  </a:lnSpc>
                  <a:spcBef>
                    <a:spcPct val="0"/>
                  </a:spcBef>
                  <a:spcAft>
                    <a:spcPct val="35000"/>
                  </a:spcAft>
                  <a:buNone/>
                </a:pPr>
                <a:r>
                  <a:rPr lang="en-US" sz="1400" b="1" kern="1200" dirty="0">
                    <a:latin typeface="+mn-lt"/>
                  </a:rPr>
                  <a:t>Potential Benefits:</a:t>
                </a:r>
                <a:endParaRPr lang="de-DE" sz="1400" b="1" kern="1200" dirty="0">
                  <a:latin typeface="+mn-lt"/>
                </a:endParaRPr>
              </a:p>
            </p:txBody>
          </p:sp>
        </p:grpSp>
        <p:sp>
          <p:nvSpPr>
            <p:cNvPr id="40" name="Rectangle 39">
              <a:extLst>
                <a:ext uri="{FF2B5EF4-FFF2-40B4-BE49-F238E27FC236}">
                  <a16:creationId xmlns:a16="http://schemas.microsoft.com/office/drawing/2014/main" id="{624ABAC6-D7E6-CA56-AD82-611E909D9305}"/>
                </a:ext>
              </a:extLst>
            </p:cNvPr>
            <p:cNvSpPr/>
            <p:nvPr/>
          </p:nvSpPr>
          <p:spPr>
            <a:xfrm>
              <a:off x="653707" y="5686546"/>
              <a:ext cx="11539154" cy="778815"/>
            </a:xfrm>
            <a:prstGeom prst="rect">
              <a:avLst/>
            </a:prstGeom>
            <a:solidFill>
              <a:srgbClr val="AFECEB">
                <a:alpha val="90000"/>
              </a:srgbClr>
            </a:solidFill>
          </p:spPr>
          <p:style>
            <a:lnRef idx="2">
              <a:schemeClr val="accent5">
                <a:tint val="40000"/>
                <a:alpha val="90000"/>
                <a:hueOff val="-6739762"/>
                <a:satOff val="-22832"/>
                <a:lumOff val="-2928"/>
                <a:alphaOff val="0"/>
              </a:schemeClr>
            </a:lnRef>
            <a:fillRef idx="1">
              <a:schemeClr val="accent5">
                <a:tint val="40000"/>
                <a:alpha val="90000"/>
                <a:hueOff val="-6739762"/>
                <a:satOff val="-22832"/>
                <a:lumOff val="-2928"/>
                <a:alphaOff val="0"/>
              </a:schemeClr>
            </a:fillRef>
            <a:effectRef idx="0">
              <a:schemeClr val="accent5">
                <a:tint val="40000"/>
                <a:alpha val="90000"/>
                <a:hueOff val="-6739762"/>
                <a:satOff val="-22832"/>
                <a:lumOff val="-2928"/>
                <a:alphaOff val="0"/>
              </a:schemeClr>
            </a:effectRef>
            <a:fontRef idx="minor">
              <a:schemeClr val="dk1">
                <a:hueOff val="0"/>
                <a:satOff val="0"/>
                <a:lumOff val="0"/>
                <a:alphaOff val="0"/>
              </a:schemeClr>
            </a:fontRef>
          </p:style>
          <p:txBody>
            <a:bodyPr anchor="ctr"/>
            <a:lstStyle/>
            <a:p>
              <a:endParaRPr lang="en-US"/>
            </a:p>
          </p:txBody>
        </p:sp>
      </p:grpSp>
      <p:sp>
        <p:nvSpPr>
          <p:cNvPr id="8" name="TextBox 7">
            <a:extLst>
              <a:ext uri="{FF2B5EF4-FFF2-40B4-BE49-F238E27FC236}">
                <a16:creationId xmlns:a16="http://schemas.microsoft.com/office/drawing/2014/main" id="{C75107F6-2EC8-2BA9-9546-3754F5CAB2A5}"/>
              </a:ext>
            </a:extLst>
          </p:cNvPr>
          <p:cNvSpPr txBox="1"/>
          <p:nvPr/>
        </p:nvSpPr>
        <p:spPr>
          <a:xfrm>
            <a:off x="624213" y="658022"/>
            <a:ext cx="11715272" cy="1015663"/>
          </a:xfrm>
          <a:prstGeom prst="rect">
            <a:avLst/>
          </a:prstGeom>
          <a:noFill/>
        </p:spPr>
        <p:txBody>
          <a:bodyPr wrap="square">
            <a:spAutoFit/>
          </a:bodyPr>
          <a:lstStyle/>
          <a:p>
            <a:r>
              <a:rPr lang="en-US" sz="1200" dirty="0"/>
              <a:t>The concept is to build an intelligent platform that helps Allianz and its customers understand and manage the environmental impact of Generative AI. The system tracks the energy consumed and CO₂ emitted by AI workloads—whether they run on cloud GPUs or through external LLM APIs—and translates this into clear, verifiable sustainability metrics. It combines real-time usage data, carbon-intensity information, and model-efficiency insights to show exactly how AI operations contribute to an organization’s ecological footprint. Along with measurement, the platform provides practical recommendations such as choosing greener compute regions, using more efficient models, optimizing prompts, and reducing unnecessary workloads. By making AI usage transparent and actionable, the tool supports more responsible technology adoption and strengthens ESG and net-zero initiatives across the organization.</a:t>
            </a:r>
          </a:p>
        </p:txBody>
      </p:sp>
      <p:sp>
        <p:nvSpPr>
          <p:cNvPr id="19" name="TextBox 18">
            <a:extLst>
              <a:ext uri="{FF2B5EF4-FFF2-40B4-BE49-F238E27FC236}">
                <a16:creationId xmlns:a16="http://schemas.microsoft.com/office/drawing/2014/main" id="{94A0D38D-7317-E515-0C6F-1A9E9DC88074}"/>
              </a:ext>
            </a:extLst>
          </p:cNvPr>
          <p:cNvSpPr txBox="1"/>
          <p:nvPr/>
        </p:nvSpPr>
        <p:spPr>
          <a:xfrm>
            <a:off x="593865" y="3691131"/>
            <a:ext cx="6640055" cy="938719"/>
          </a:xfrm>
          <a:prstGeom prst="rect">
            <a:avLst/>
          </a:prstGeom>
          <a:noFill/>
        </p:spPr>
        <p:txBody>
          <a:bodyPr wrap="square">
            <a:spAutoFit/>
          </a:bodyPr>
          <a:lstStyle/>
          <a:p>
            <a:r>
              <a:rPr lang="en-US" sz="1100" dirty="0"/>
              <a:t>The AI and Analytics is recommended because it accurately measures the environmental impact of any AI workload and goes beyond reporting by offering practical, automated ways to reduce emissions. By combining real-time energy estimation, carbon data, model efficiency analysis, and smart optimization features like greener region routing and prompt improvement, it solves the problem end-to-end and provides a unique, actionable approach to making AI usage truly sustainable</a:t>
            </a:r>
          </a:p>
        </p:txBody>
      </p:sp>
      <p:sp>
        <p:nvSpPr>
          <p:cNvPr id="20" name="Rectangle 3">
            <a:extLst>
              <a:ext uri="{FF2B5EF4-FFF2-40B4-BE49-F238E27FC236}">
                <a16:creationId xmlns:a16="http://schemas.microsoft.com/office/drawing/2014/main" id="{3C22FF09-7E61-5870-6F35-47F806B0F63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6EC172FC-F914-CE1F-D01C-787911784F05}"/>
              </a:ext>
            </a:extLst>
          </p:cNvPr>
          <p:cNvSpPr txBox="1"/>
          <p:nvPr/>
        </p:nvSpPr>
        <p:spPr>
          <a:xfrm>
            <a:off x="7167512" y="3632338"/>
            <a:ext cx="6197600" cy="1015663"/>
          </a:xfrm>
          <a:prstGeom prst="rect">
            <a:avLst/>
          </a:prstGeom>
          <a:noFill/>
        </p:spPr>
        <p:txBody>
          <a:bodyPr wrap="square">
            <a:spAutoFit/>
          </a:bodyPr>
          <a:lstStyle/>
          <a:p>
            <a:pPr marL="228600" indent="-228600">
              <a:buFont typeface="+mj-lt"/>
              <a:buAutoNum type="arabicPeriod"/>
            </a:pPr>
            <a:r>
              <a:rPr lang="en-US" sz="1200" dirty="0"/>
              <a:t>Accurate — Measures real energy and CO₂ across all AI workloads.</a:t>
            </a:r>
          </a:p>
          <a:p>
            <a:pPr marL="228600" indent="-228600">
              <a:buFont typeface="+mj-lt"/>
              <a:buAutoNum type="arabicPeriod"/>
            </a:pPr>
            <a:r>
              <a:rPr lang="en-US" sz="1200" dirty="0"/>
              <a:t>Comprehensive — Supports both in-house models and third-party LLM APIs.</a:t>
            </a:r>
          </a:p>
          <a:p>
            <a:pPr marL="228600" indent="-228600">
              <a:buFont typeface="+mj-lt"/>
              <a:buAutoNum type="arabicPeriod"/>
            </a:pPr>
            <a:r>
              <a:rPr lang="en-US" sz="1200" dirty="0"/>
              <a:t>Actionable — Provides optimization tips, not just reporting.</a:t>
            </a:r>
          </a:p>
          <a:p>
            <a:pPr marL="228600" indent="-228600">
              <a:buFont typeface="+mj-lt"/>
              <a:buAutoNum type="arabicPeriod"/>
            </a:pPr>
            <a:r>
              <a:rPr lang="en-US" sz="1200" dirty="0"/>
              <a:t>Smart — Recommends efficient models, prompts, and greener regions.</a:t>
            </a:r>
          </a:p>
          <a:p>
            <a:pPr marL="228600" indent="-228600">
              <a:buFont typeface="+mj-lt"/>
              <a:buAutoNum type="arabicPeriod"/>
            </a:pPr>
            <a:r>
              <a:rPr lang="en-US" sz="1200" dirty="0"/>
              <a:t>Sustainable — Directly reduces the environmental footprint of AI usage.</a:t>
            </a:r>
          </a:p>
        </p:txBody>
      </p:sp>
      <p:pic>
        <p:nvPicPr>
          <p:cNvPr id="51" name="Picture 50">
            <a:extLst>
              <a:ext uri="{FF2B5EF4-FFF2-40B4-BE49-F238E27FC236}">
                <a16:creationId xmlns:a16="http://schemas.microsoft.com/office/drawing/2014/main" id="{39B96517-B956-2EA4-0EEF-7E229B6048EE}"/>
              </a:ext>
            </a:extLst>
          </p:cNvPr>
          <p:cNvPicPr>
            <a:picLocks noChangeAspect="1"/>
          </p:cNvPicPr>
          <p:nvPr/>
        </p:nvPicPr>
        <p:blipFill>
          <a:blip r:embed="rId12"/>
          <a:stretch>
            <a:fillRect/>
          </a:stretch>
        </p:blipFill>
        <p:spPr>
          <a:xfrm>
            <a:off x="653708" y="5955556"/>
            <a:ext cx="11519951" cy="922496"/>
          </a:xfrm>
          <a:prstGeom prst="rect">
            <a:avLst/>
          </a:prstGeom>
        </p:spPr>
      </p:pic>
      <p:pic>
        <p:nvPicPr>
          <p:cNvPr id="10" name="Picture 9">
            <a:extLst>
              <a:ext uri="{FF2B5EF4-FFF2-40B4-BE49-F238E27FC236}">
                <a16:creationId xmlns:a16="http://schemas.microsoft.com/office/drawing/2014/main" id="{3E173918-B97B-621F-B926-29C168593033}"/>
              </a:ext>
            </a:extLst>
          </p:cNvPr>
          <p:cNvPicPr>
            <a:picLocks noChangeAspect="1"/>
          </p:cNvPicPr>
          <p:nvPr/>
        </p:nvPicPr>
        <p:blipFill>
          <a:blip r:embed="rId13"/>
          <a:stretch>
            <a:fillRect/>
          </a:stretch>
        </p:blipFill>
        <p:spPr>
          <a:xfrm>
            <a:off x="653708" y="4891981"/>
            <a:ext cx="11500748" cy="785220"/>
          </a:xfrm>
          <a:prstGeom prst="rect">
            <a:avLst/>
          </a:prstGeom>
        </p:spPr>
      </p:pic>
    </p:spTree>
    <p:extLst>
      <p:ext uri="{BB962C8B-B14F-4D97-AF65-F5344CB8AC3E}">
        <p14:creationId xmlns:p14="http://schemas.microsoft.com/office/powerpoint/2010/main" val="109507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48A6F8-FF68-08C2-4B7E-986D116385E5}"/>
              </a:ext>
            </a:extLst>
          </p:cNvPr>
          <p:cNvSpPr txBox="1"/>
          <p:nvPr/>
        </p:nvSpPr>
        <p:spPr>
          <a:xfrm>
            <a:off x="0" y="1785"/>
            <a:ext cx="12192000" cy="400110"/>
          </a:xfrm>
          <a:prstGeom prst="rect">
            <a:avLst/>
          </a:prstGeom>
          <a:solidFill>
            <a:srgbClr val="008080"/>
          </a:solidFill>
        </p:spPr>
        <p:txBody>
          <a:bodyPr wrap="square" rtlCol="0" anchor="ctr">
            <a:spAutoFit/>
          </a:bodyPr>
          <a:lstStyle/>
          <a:p>
            <a:pPr algn="ctr"/>
            <a:r>
              <a:rPr lang="en-US" sz="2000" b="1" dirty="0">
                <a:solidFill>
                  <a:srgbClr val="00FFCC"/>
                </a:solidFill>
                <a:latin typeface="Allianz Neo" panose="020B0504020203020204" pitchFamily="34" charset="0"/>
              </a:rPr>
              <a:t>Wireframe Design for Eco-Compute</a:t>
            </a:r>
          </a:p>
        </p:txBody>
      </p:sp>
      <p:pic>
        <p:nvPicPr>
          <p:cNvPr id="8" name="Picture 7">
            <a:extLst>
              <a:ext uri="{FF2B5EF4-FFF2-40B4-BE49-F238E27FC236}">
                <a16:creationId xmlns:a16="http://schemas.microsoft.com/office/drawing/2014/main" id="{B4C72B02-399D-11FD-372E-C514E915C9A1}"/>
              </a:ext>
            </a:extLst>
          </p:cNvPr>
          <p:cNvPicPr>
            <a:picLocks noChangeAspect="1"/>
          </p:cNvPicPr>
          <p:nvPr/>
        </p:nvPicPr>
        <p:blipFill>
          <a:blip r:embed="rId2"/>
          <a:srcRect b="4276"/>
          <a:stretch>
            <a:fillRect/>
          </a:stretch>
        </p:blipFill>
        <p:spPr>
          <a:xfrm>
            <a:off x="152324" y="606164"/>
            <a:ext cx="5524576" cy="4388175"/>
          </a:xfrm>
          <a:prstGeom prst="rect">
            <a:avLst/>
          </a:prstGeom>
        </p:spPr>
      </p:pic>
      <p:sp>
        <p:nvSpPr>
          <p:cNvPr id="13" name="TextBox 12">
            <a:extLst>
              <a:ext uri="{FF2B5EF4-FFF2-40B4-BE49-F238E27FC236}">
                <a16:creationId xmlns:a16="http://schemas.microsoft.com/office/drawing/2014/main" id="{0EDDDBD1-D5F0-0457-8310-201A3E2B474A}"/>
              </a:ext>
            </a:extLst>
          </p:cNvPr>
          <p:cNvSpPr txBox="1"/>
          <p:nvPr/>
        </p:nvSpPr>
        <p:spPr>
          <a:xfrm>
            <a:off x="2313078" y="401895"/>
            <a:ext cx="1814404" cy="369332"/>
          </a:xfrm>
          <a:prstGeom prst="rect">
            <a:avLst/>
          </a:prstGeom>
          <a:noFill/>
        </p:spPr>
        <p:txBody>
          <a:bodyPr wrap="square">
            <a:spAutoFit/>
          </a:bodyPr>
          <a:lstStyle/>
          <a:p>
            <a:r>
              <a:rPr lang="en-US" b="1" dirty="0">
                <a:solidFill>
                  <a:srgbClr val="008080"/>
                </a:solidFill>
                <a:latin typeface="Allianz Neo" panose="020B0504020203020204" pitchFamily="34" charset="0"/>
              </a:rPr>
              <a:t>Main Dashboard</a:t>
            </a:r>
            <a:endParaRPr lang="en-IN" dirty="0"/>
          </a:p>
        </p:txBody>
      </p:sp>
      <p:pic>
        <p:nvPicPr>
          <p:cNvPr id="15" name="Picture 14">
            <a:extLst>
              <a:ext uri="{FF2B5EF4-FFF2-40B4-BE49-F238E27FC236}">
                <a16:creationId xmlns:a16="http://schemas.microsoft.com/office/drawing/2014/main" id="{2726C281-E08D-160A-D8CA-3656409865A2}"/>
              </a:ext>
            </a:extLst>
          </p:cNvPr>
          <p:cNvPicPr>
            <a:picLocks noChangeAspect="1"/>
          </p:cNvPicPr>
          <p:nvPr/>
        </p:nvPicPr>
        <p:blipFill>
          <a:blip r:embed="rId3"/>
          <a:srcRect b="3583"/>
          <a:stretch>
            <a:fillRect/>
          </a:stretch>
        </p:blipFill>
        <p:spPr>
          <a:xfrm>
            <a:off x="6515102" y="771227"/>
            <a:ext cx="5172327" cy="5152420"/>
          </a:xfrm>
          <a:prstGeom prst="rect">
            <a:avLst/>
          </a:prstGeom>
        </p:spPr>
      </p:pic>
      <p:sp>
        <p:nvSpPr>
          <p:cNvPr id="16" name="TextBox 15">
            <a:extLst>
              <a:ext uri="{FF2B5EF4-FFF2-40B4-BE49-F238E27FC236}">
                <a16:creationId xmlns:a16="http://schemas.microsoft.com/office/drawing/2014/main" id="{3EF3D2DA-A32E-E38D-AF79-1FF6E4D90FBF}"/>
              </a:ext>
            </a:extLst>
          </p:cNvPr>
          <p:cNvSpPr txBox="1"/>
          <p:nvPr/>
        </p:nvSpPr>
        <p:spPr>
          <a:xfrm>
            <a:off x="6676462" y="424440"/>
            <a:ext cx="2322384" cy="369332"/>
          </a:xfrm>
          <a:prstGeom prst="rect">
            <a:avLst/>
          </a:prstGeom>
          <a:noFill/>
        </p:spPr>
        <p:txBody>
          <a:bodyPr wrap="square">
            <a:spAutoFit/>
          </a:bodyPr>
          <a:lstStyle/>
          <a:p>
            <a:r>
              <a:rPr lang="en-US" b="1" dirty="0">
                <a:solidFill>
                  <a:srgbClr val="008080"/>
                </a:solidFill>
                <a:latin typeface="Allianz Neo" panose="020B0504020203020204" pitchFamily="34" charset="0"/>
              </a:rPr>
              <a:t>AI Usage Tracking</a:t>
            </a:r>
            <a:endParaRPr lang="en-IN" dirty="0"/>
          </a:p>
        </p:txBody>
      </p:sp>
      <p:sp>
        <p:nvSpPr>
          <p:cNvPr id="20" name="TextBox 19">
            <a:extLst>
              <a:ext uri="{FF2B5EF4-FFF2-40B4-BE49-F238E27FC236}">
                <a16:creationId xmlns:a16="http://schemas.microsoft.com/office/drawing/2014/main" id="{FA6B658C-AF99-7B48-CB0A-13C0426E7346}"/>
              </a:ext>
            </a:extLst>
          </p:cNvPr>
          <p:cNvSpPr txBox="1"/>
          <p:nvPr/>
        </p:nvSpPr>
        <p:spPr>
          <a:xfrm>
            <a:off x="3352876" y="5738981"/>
            <a:ext cx="1454802" cy="369332"/>
          </a:xfrm>
          <a:prstGeom prst="rect">
            <a:avLst/>
          </a:prstGeom>
          <a:noFill/>
        </p:spPr>
        <p:txBody>
          <a:bodyPr wrap="square">
            <a:spAutoFit/>
          </a:bodyPr>
          <a:lstStyle/>
          <a:p>
            <a:r>
              <a:rPr lang="en-US" b="1" dirty="0">
                <a:solidFill>
                  <a:srgbClr val="008080"/>
                </a:solidFill>
                <a:latin typeface="Allianz Neo" panose="020B0504020203020204" pitchFamily="34" charset="0"/>
              </a:rPr>
              <a:t>Login &amp; Auth</a:t>
            </a:r>
            <a:endParaRPr lang="en-IN" dirty="0"/>
          </a:p>
        </p:txBody>
      </p:sp>
      <p:pic>
        <p:nvPicPr>
          <p:cNvPr id="21" name="Picture 20">
            <a:extLst>
              <a:ext uri="{FF2B5EF4-FFF2-40B4-BE49-F238E27FC236}">
                <a16:creationId xmlns:a16="http://schemas.microsoft.com/office/drawing/2014/main" id="{18C230A5-3FD4-F044-97E4-56B5290604B5}"/>
              </a:ext>
            </a:extLst>
          </p:cNvPr>
          <p:cNvPicPr>
            <a:picLocks noChangeAspect="1"/>
          </p:cNvPicPr>
          <p:nvPr/>
        </p:nvPicPr>
        <p:blipFill>
          <a:blip r:embed="rId4"/>
          <a:srcRect l="28030" t="24118" r="27389" b="26712"/>
          <a:stretch>
            <a:fillRect/>
          </a:stretch>
        </p:blipFill>
        <p:spPr>
          <a:xfrm>
            <a:off x="0" y="5025358"/>
            <a:ext cx="3352876" cy="1832642"/>
          </a:xfrm>
          <a:prstGeom prst="rect">
            <a:avLst/>
          </a:prstGeom>
        </p:spPr>
      </p:pic>
    </p:spTree>
    <p:extLst>
      <p:ext uri="{BB962C8B-B14F-4D97-AF65-F5344CB8AC3E}">
        <p14:creationId xmlns:p14="http://schemas.microsoft.com/office/powerpoint/2010/main" val="3595113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D0F1E-6E52-0F09-F042-4DB508D1E5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3E165F8-C272-C1DF-F9F5-C4E9AA4FC9C9}"/>
              </a:ext>
            </a:extLst>
          </p:cNvPr>
          <p:cNvSpPr txBox="1"/>
          <p:nvPr/>
        </p:nvSpPr>
        <p:spPr>
          <a:xfrm>
            <a:off x="0" y="1785"/>
            <a:ext cx="12192000" cy="400110"/>
          </a:xfrm>
          <a:prstGeom prst="rect">
            <a:avLst/>
          </a:prstGeom>
          <a:solidFill>
            <a:srgbClr val="008080"/>
          </a:solidFill>
        </p:spPr>
        <p:txBody>
          <a:bodyPr wrap="square" rtlCol="0" anchor="ctr">
            <a:spAutoFit/>
          </a:bodyPr>
          <a:lstStyle/>
          <a:p>
            <a:pPr algn="ctr"/>
            <a:r>
              <a:rPr lang="en-US" sz="2000" b="1" dirty="0">
                <a:solidFill>
                  <a:srgbClr val="00FFCC"/>
                </a:solidFill>
                <a:latin typeface="Allianz Neo" panose="020B0504020203020204" pitchFamily="34" charset="0"/>
              </a:rPr>
              <a:t>Wireframe Design for Eco-Compute</a:t>
            </a:r>
          </a:p>
        </p:txBody>
      </p:sp>
      <p:sp>
        <p:nvSpPr>
          <p:cNvPr id="13" name="TextBox 12">
            <a:extLst>
              <a:ext uri="{FF2B5EF4-FFF2-40B4-BE49-F238E27FC236}">
                <a16:creationId xmlns:a16="http://schemas.microsoft.com/office/drawing/2014/main" id="{D901BAAC-8FFF-7FE2-BDBA-A3D376D5DB72}"/>
              </a:ext>
            </a:extLst>
          </p:cNvPr>
          <p:cNvSpPr txBox="1"/>
          <p:nvPr/>
        </p:nvSpPr>
        <p:spPr>
          <a:xfrm>
            <a:off x="960745" y="401895"/>
            <a:ext cx="2973297" cy="369332"/>
          </a:xfrm>
          <a:prstGeom prst="rect">
            <a:avLst/>
          </a:prstGeom>
          <a:noFill/>
        </p:spPr>
        <p:txBody>
          <a:bodyPr wrap="square">
            <a:spAutoFit/>
          </a:bodyPr>
          <a:lstStyle/>
          <a:p>
            <a:r>
              <a:rPr lang="en-US" b="1" dirty="0">
                <a:solidFill>
                  <a:srgbClr val="008080"/>
                </a:solidFill>
                <a:latin typeface="Allianz Neo" panose="020B0504020203020204" pitchFamily="34" charset="0"/>
              </a:rPr>
              <a:t>Carbon Emission Dashboard</a:t>
            </a:r>
            <a:endParaRPr lang="en-IN" dirty="0"/>
          </a:p>
        </p:txBody>
      </p:sp>
      <p:pic>
        <p:nvPicPr>
          <p:cNvPr id="5" name="Picture 4">
            <a:extLst>
              <a:ext uri="{FF2B5EF4-FFF2-40B4-BE49-F238E27FC236}">
                <a16:creationId xmlns:a16="http://schemas.microsoft.com/office/drawing/2014/main" id="{67198543-6A29-6735-065C-03DCC3789A4F}"/>
              </a:ext>
            </a:extLst>
          </p:cNvPr>
          <p:cNvPicPr>
            <a:picLocks noChangeAspect="1"/>
          </p:cNvPicPr>
          <p:nvPr/>
        </p:nvPicPr>
        <p:blipFill>
          <a:blip r:embed="rId3"/>
          <a:srcRect b="2466"/>
          <a:stretch>
            <a:fillRect/>
          </a:stretch>
        </p:blipFill>
        <p:spPr>
          <a:xfrm>
            <a:off x="68820" y="771227"/>
            <a:ext cx="5576329" cy="6084988"/>
          </a:xfrm>
          <a:prstGeom prst="rect">
            <a:avLst/>
          </a:prstGeom>
        </p:spPr>
      </p:pic>
      <p:sp>
        <p:nvSpPr>
          <p:cNvPr id="11" name="TextBox 10">
            <a:extLst>
              <a:ext uri="{FF2B5EF4-FFF2-40B4-BE49-F238E27FC236}">
                <a16:creationId xmlns:a16="http://schemas.microsoft.com/office/drawing/2014/main" id="{1B7D4CA5-FB05-187B-14C4-B77EFAD8D4C9}"/>
              </a:ext>
            </a:extLst>
          </p:cNvPr>
          <p:cNvSpPr txBox="1"/>
          <p:nvPr/>
        </p:nvSpPr>
        <p:spPr>
          <a:xfrm>
            <a:off x="6779743" y="401895"/>
            <a:ext cx="3698754" cy="369332"/>
          </a:xfrm>
          <a:prstGeom prst="rect">
            <a:avLst/>
          </a:prstGeom>
          <a:noFill/>
        </p:spPr>
        <p:txBody>
          <a:bodyPr wrap="square">
            <a:spAutoFit/>
          </a:bodyPr>
          <a:lstStyle/>
          <a:p>
            <a:r>
              <a:rPr lang="en-US" b="1" dirty="0">
                <a:solidFill>
                  <a:srgbClr val="008080"/>
                </a:solidFill>
                <a:latin typeface="Allianz Neo" panose="020B0504020203020204" pitchFamily="34" charset="0"/>
              </a:rPr>
              <a:t>Recommendation &amp; Optimization</a:t>
            </a:r>
            <a:endParaRPr lang="en-IN" dirty="0"/>
          </a:p>
        </p:txBody>
      </p:sp>
      <p:pic>
        <p:nvPicPr>
          <p:cNvPr id="17" name="Picture 16">
            <a:extLst>
              <a:ext uri="{FF2B5EF4-FFF2-40B4-BE49-F238E27FC236}">
                <a16:creationId xmlns:a16="http://schemas.microsoft.com/office/drawing/2014/main" id="{09667248-33AB-9A79-22BD-40A7C1A7A9E2}"/>
              </a:ext>
            </a:extLst>
          </p:cNvPr>
          <p:cNvPicPr>
            <a:picLocks noChangeAspect="1"/>
          </p:cNvPicPr>
          <p:nvPr/>
        </p:nvPicPr>
        <p:blipFill>
          <a:blip r:embed="rId4"/>
          <a:srcRect b="3361"/>
          <a:stretch>
            <a:fillRect/>
          </a:stretch>
        </p:blipFill>
        <p:spPr>
          <a:xfrm>
            <a:off x="5798668" y="771227"/>
            <a:ext cx="5921495" cy="6031597"/>
          </a:xfrm>
          <a:prstGeom prst="rect">
            <a:avLst/>
          </a:prstGeom>
        </p:spPr>
      </p:pic>
    </p:spTree>
    <p:extLst>
      <p:ext uri="{BB962C8B-B14F-4D97-AF65-F5344CB8AC3E}">
        <p14:creationId xmlns:p14="http://schemas.microsoft.com/office/powerpoint/2010/main" val="1604120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850F2-4720-A043-7930-0731D62B1B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DD9FF2A-A4DE-EE36-A323-775B44FC8C7D}"/>
              </a:ext>
            </a:extLst>
          </p:cNvPr>
          <p:cNvSpPr txBox="1"/>
          <p:nvPr/>
        </p:nvSpPr>
        <p:spPr>
          <a:xfrm>
            <a:off x="0" y="1785"/>
            <a:ext cx="12192000" cy="400110"/>
          </a:xfrm>
          <a:prstGeom prst="rect">
            <a:avLst/>
          </a:prstGeom>
          <a:solidFill>
            <a:srgbClr val="008080"/>
          </a:solidFill>
        </p:spPr>
        <p:txBody>
          <a:bodyPr wrap="square" rtlCol="0" anchor="ctr">
            <a:spAutoFit/>
          </a:bodyPr>
          <a:lstStyle/>
          <a:p>
            <a:pPr algn="ctr"/>
            <a:r>
              <a:rPr lang="en-US" sz="2000" b="1" dirty="0">
                <a:solidFill>
                  <a:srgbClr val="00FFCC"/>
                </a:solidFill>
                <a:latin typeface="Allianz Neo" panose="020B0504020203020204" pitchFamily="34" charset="0"/>
              </a:rPr>
              <a:t>Wireframe Design for Eco-Compute</a:t>
            </a:r>
          </a:p>
        </p:txBody>
      </p:sp>
      <p:pic>
        <p:nvPicPr>
          <p:cNvPr id="14" name="Picture 13">
            <a:extLst>
              <a:ext uri="{FF2B5EF4-FFF2-40B4-BE49-F238E27FC236}">
                <a16:creationId xmlns:a16="http://schemas.microsoft.com/office/drawing/2014/main" id="{82B0A66D-DF56-599C-4315-E247DE770A67}"/>
              </a:ext>
            </a:extLst>
          </p:cNvPr>
          <p:cNvPicPr>
            <a:picLocks noChangeAspect="1"/>
          </p:cNvPicPr>
          <p:nvPr/>
        </p:nvPicPr>
        <p:blipFill>
          <a:blip r:embed="rId2"/>
          <a:srcRect b="5290"/>
          <a:stretch>
            <a:fillRect/>
          </a:stretch>
        </p:blipFill>
        <p:spPr>
          <a:xfrm>
            <a:off x="199370" y="798070"/>
            <a:ext cx="6360050" cy="6008915"/>
          </a:xfrm>
          <a:prstGeom prst="rect">
            <a:avLst/>
          </a:prstGeom>
        </p:spPr>
      </p:pic>
      <p:sp>
        <p:nvSpPr>
          <p:cNvPr id="7" name="TextBox 6">
            <a:extLst>
              <a:ext uri="{FF2B5EF4-FFF2-40B4-BE49-F238E27FC236}">
                <a16:creationId xmlns:a16="http://schemas.microsoft.com/office/drawing/2014/main" id="{A59DEE38-2478-AC91-E161-A1631CF21186}"/>
              </a:ext>
            </a:extLst>
          </p:cNvPr>
          <p:cNvSpPr txBox="1"/>
          <p:nvPr/>
        </p:nvSpPr>
        <p:spPr>
          <a:xfrm>
            <a:off x="1516543" y="515345"/>
            <a:ext cx="2973297" cy="369332"/>
          </a:xfrm>
          <a:prstGeom prst="rect">
            <a:avLst/>
          </a:prstGeom>
          <a:noFill/>
        </p:spPr>
        <p:txBody>
          <a:bodyPr wrap="square">
            <a:spAutoFit/>
          </a:bodyPr>
          <a:lstStyle/>
          <a:p>
            <a:r>
              <a:rPr lang="en-US" b="1" dirty="0">
                <a:solidFill>
                  <a:srgbClr val="008080"/>
                </a:solidFill>
                <a:latin typeface="Allianz Neo" panose="020B0504020203020204" pitchFamily="34" charset="0"/>
              </a:rPr>
              <a:t>Model Efficiency Comparison</a:t>
            </a:r>
            <a:endParaRPr lang="en-IN" dirty="0"/>
          </a:p>
        </p:txBody>
      </p:sp>
      <p:pic>
        <p:nvPicPr>
          <p:cNvPr id="3" name="Picture 2">
            <a:extLst>
              <a:ext uri="{FF2B5EF4-FFF2-40B4-BE49-F238E27FC236}">
                <a16:creationId xmlns:a16="http://schemas.microsoft.com/office/drawing/2014/main" id="{8CFC828A-D51E-0201-608D-D2D52FBA124E}"/>
              </a:ext>
            </a:extLst>
          </p:cNvPr>
          <p:cNvPicPr>
            <a:picLocks noChangeAspect="1"/>
          </p:cNvPicPr>
          <p:nvPr/>
        </p:nvPicPr>
        <p:blipFill>
          <a:blip r:embed="rId3"/>
          <a:srcRect b="2695"/>
          <a:stretch>
            <a:fillRect/>
          </a:stretch>
        </p:blipFill>
        <p:spPr>
          <a:xfrm>
            <a:off x="6559420" y="798070"/>
            <a:ext cx="5526516" cy="6008915"/>
          </a:xfrm>
          <a:prstGeom prst="rect">
            <a:avLst/>
          </a:prstGeom>
        </p:spPr>
      </p:pic>
      <p:sp>
        <p:nvSpPr>
          <p:cNvPr id="4" name="TextBox 3">
            <a:extLst>
              <a:ext uri="{FF2B5EF4-FFF2-40B4-BE49-F238E27FC236}">
                <a16:creationId xmlns:a16="http://schemas.microsoft.com/office/drawing/2014/main" id="{57AAF93E-7992-2A04-CF09-C05B80255E63}"/>
              </a:ext>
            </a:extLst>
          </p:cNvPr>
          <p:cNvSpPr txBox="1"/>
          <p:nvPr/>
        </p:nvSpPr>
        <p:spPr>
          <a:xfrm>
            <a:off x="8442966" y="397960"/>
            <a:ext cx="2973297" cy="369332"/>
          </a:xfrm>
          <a:prstGeom prst="rect">
            <a:avLst/>
          </a:prstGeom>
          <a:noFill/>
        </p:spPr>
        <p:txBody>
          <a:bodyPr wrap="square">
            <a:spAutoFit/>
          </a:bodyPr>
          <a:lstStyle/>
          <a:p>
            <a:r>
              <a:rPr lang="en-US" b="1" dirty="0">
                <a:solidFill>
                  <a:srgbClr val="008080"/>
                </a:solidFill>
                <a:latin typeface="Allianz Neo" panose="020B0504020203020204" pitchFamily="34" charset="0"/>
              </a:rPr>
              <a:t>Energy Consumption</a:t>
            </a:r>
            <a:endParaRPr lang="en-IN" dirty="0"/>
          </a:p>
        </p:txBody>
      </p:sp>
    </p:spTree>
    <p:extLst>
      <p:ext uri="{BB962C8B-B14F-4D97-AF65-F5344CB8AC3E}">
        <p14:creationId xmlns:p14="http://schemas.microsoft.com/office/powerpoint/2010/main" val="1735149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337E-CC20-55B7-008F-C192A2E74D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781835D-908B-8279-5B53-ACF6EF817406}"/>
              </a:ext>
            </a:extLst>
          </p:cNvPr>
          <p:cNvSpPr txBox="1"/>
          <p:nvPr/>
        </p:nvSpPr>
        <p:spPr>
          <a:xfrm>
            <a:off x="0" y="1785"/>
            <a:ext cx="12192000" cy="400110"/>
          </a:xfrm>
          <a:prstGeom prst="rect">
            <a:avLst/>
          </a:prstGeom>
          <a:solidFill>
            <a:srgbClr val="008080"/>
          </a:solidFill>
        </p:spPr>
        <p:txBody>
          <a:bodyPr wrap="square" rtlCol="0" anchor="ctr">
            <a:spAutoFit/>
          </a:bodyPr>
          <a:lstStyle/>
          <a:p>
            <a:pPr algn="ctr"/>
            <a:r>
              <a:rPr lang="en-US" sz="2000" b="1" dirty="0">
                <a:solidFill>
                  <a:srgbClr val="00FFCC"/>
                </a:solidFill>
                <a:latin typeface="Allianz Neo" panose="020B0504020203020204" pitchFamily="34" charset="0"/>
              </a:rPr>
              <a:t>Wireframe Design for Eco-Compute</a:t>
            </a:r>
          </a:p>
        </p:txBody>
      </p:sp>
      <p:pic>
        <p:nvPicPr>
          <p:cNvPr id="9" name="Picture 8">
            <a:extLst>
              <a:ext uri="{FF2B5EF4-FFF2-40B4-BE49-F238E27FC236}">
                <a16:creationId xmlns:a16="http://schemas.microsoft.com/office/drawing/2014/main" id="{499C2996-3863-9DB1-764C-4A1817E1A01A}"/>
              </a:ext>
            </a:extLst>
          </p:cNvPr>
          <p:cNvPicPr>
            <a:picLocks noChangeAspect="1"/>
          </p:cNvPicPr>
          <p:nvPr/>
        </p:nvPicPr>
        <p:blipFill>
          <a:blip r:embed="rId2"/>
          <a:srcRect b="4027"/>
          <a:stretch>
            <a:fillRect/>
          </a:stretch>
        </p:blipFill>
        <p:spPr>
          <a:xfrm>
            <a:off x="5643621" y="743781"/>
            <a:ext cx="6269899" cy="6114219"/>
          </a:xfrm>
          <a:prstGeom prst="rect">
            <a:avLst/>
          </a:prstGeom>
        </p:spPr>
      </p:pic>
      <p:pic>
        <p:nvPicPr>
          <p:cNvPr id="21" name="Picture 20">
            <a:extLst>
              <a:ext uri="{FF2B5EF4-FFF2-40B4-BE49-F238E27FC236}">
                <a16:creationId xmlns:a16="http://schemas.microsoft.com/office/drawing/2014/main" id="{F7BE5735-0118-BE85-CC67-6DD3D078A2D6}"/>
              </a:ext>
            </a:extLst>
          </p:cNvPr>
          <p:cNvPicPr>
            <a:picLocks noChangeAspect="1"/>
          </p:cNvPicPr>
          <p:nvPr/>
        </p:nvPicPr>
        <p:blipFill>
          <a:blip r:embed="rId3"/>
          <a:srcRect b="3749"/>
          <a:stretch>
            <a:fillRect/>
          </a:stretch>
        </p:blipFill>
        <p:spPr>
          <a:xfrm>
            <a:off x="88213" y="743781"/>
            <a:ext cx="5457281" cy="6106596"/>
          </a:xfrm>
          <a:prstGeom prst="rect">
            <a:avLst/>
          </a:prstGeom>
        </p:spPr>
      </p:pic>
      <p:sp>
        <p:nvSpPr>
          <p:cNvPr id="2" name="TextBox 1">
            <a:extLst>
              <a:ext uri="{FF2B5EF4-FFF2-40B4-BE49-F238E27FC236}">
                <a16:creationId xmlns:a16="http://schemas.microsoft.com/office/drawing/2014/main" id="{28D4EA77-0683-D00A-1CB4-4E98E9F5A6D6}"/>
              </a:ext>
            </a:extLst>
          </p:cNvPr>
          <p:cNvSpPr txBox="1"/>
          <p:nvPr/>
        </p:nvSpPr>
        <p:spPr>
          <a:xfrm>
            <a:off x="2244331" y="401895"/>
            <a:ext cx="2973297" cy="369332"/>
          </a:xfrm>
          <a:prstGeom prst="rect">
            <a:avLst/>
          </a:prstGeom>
          <a:noFill/>
        </p:spPr>
        <p:txBody>
          <a:bodyPr wrap="square">
            <a:spAutoFit/>
          </a:bodyPr>
          <a:lstStyle/>
          <a:p>
            <a:r>
              <a:rPr lang="en-US" b="1" dirty="0">
                <a:solidFill>
                  <a:srgbClr val="008080"/>
                </a:solidFill>
                <a:latin typeface="Allianz Neo" panose="020B0504020203020204" pitchFamily="34" charset="0"/>
              </a:rPr>
              <a:t>Reports </a:t>
            </a:r>
            <a:endParaRPr lang="en-IN" dirty="0"/>
          </a:p>
        </p:txBody>
      </p:sp>
      <p:sp>
        <p:nvSpPr>
          <p:cNvPr id="3" name="TextBox 2">
            <a:extLst>
              <a:ext uri="{FF2B5EF4-FFF2-40B4-BE49-F238E27FC236}">
                <a16:creationId xmlns:a16="http://schemas.microsoft.com/office/drawing/2014/main" id="{0F1309F7-C6DB-84AF-6CDF-9EE80EE36BAE}"/>
              </a:ext>
            </a:extLst>
          </p:cNvPr>
          <p:cNvSpPr txBox="1"/>
          <p:nvPr/>
        </p:nvSpPr>
        <p:spPr>
          <a:xfrm>
            <a:off x="8445866" y="401895"/>
            <a:ext cx="2530132" cy="369332"/>
          </a:xfrm>
          <a:prstGeom prst="rect">
            <a:avLst/>
          </a:prstGeom>
          <a:noFill/>
        </p:spPr>
        <p:txBody>
          <a:bodyPr wrap="square">
            <a:spAutoFit/>
          </a:bodyPr>
          <a:lstStyle/>
          <a:p>
            <a:r>
              <a:rPr lang="en-US" b="1" dirty="0">
                <a:solidFill>
                  <a:srgbClr val="008080"/>
                </a:solidFill>
                <a:latin typeface="Allianz Neo" panose="020B0504020203020204" pitchFamily="34" charset="0"/>
              </a:rPr>
              <a:t>Settings &amp; Integration </a:t>
            </a:r>
            <a:endParaRPr lang="en-IN" dirty="0"/>
          </a:p>
        </p:txBody>
      </p:sp>
    </p:spTree>
    <p:extLst>
      <p:ext uri="{BB962C8B-B14F-4D97-AF65-F5344CB8AC3E}">
        <p14:creationId xmlns:p14="http://schemas.microsoft.com/office/powerpoint/2010/main" val="252504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9FFFF"/>
        </a:solidFill>
        <a:effectLst/>
      </p:bgPr>
    </p:bg>
    <p:spTree>
      <p:nvGrpSpPr>
        <p:cNvPr id="1" name=""/>
        <p:cNvGrpSpPr/>
        <p:nvPr/>
      </p:nvGrpSpPr>
      <p:grpSpPr>
        <a:xfrm>
          <a:off x="0" y="0"/>
          <a:ext cx="0" cy="0"/>
          <a:chOff x="0" y="0"/>
          <a:chExt cx="0" cy="0"/>
        </a:xfrm>
      </p:grpSpPr>
      <p:sp>
        <p:nvSpPr>
          <p:cNvPr id="2" name="Titel 4">
            <a:extLst>
              <a:ext uri="{FF2B5EF4-FFF2-40B4-BE49-F238E27FC236}">
                <a16:creationId xmlns:a16="http://schemas.microsoft.com/office/drawing/2014/main" id="{83D4191F-DA14-8796-E18C-31856ABD0C10}"/>
              </a:ext>
            </a:extLst>
          </p:cNvPr>
          <p:cNvSpPr txBox="1">
            <a:spLocks/>
          </p:cNvSpPr>
          <p:nvPr/>
        </p:nvSpPr>
        <p:spPr>
          <a:xfrm>
            <a:off x="1119720" y="2962573"/>
            <a:ext cx="9324974" cy="9328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solidFill>
                  <a:srgbClr val="008080"/>
                </a:solidFill>
                <a:latin typeface="+mn-lt"/>
              </a:rPr>
              <a:t>Thank You..!!</a:t>
            </a:r>
          </a:p>
        </p:txBody>
      </p:sp>
    </p:spTree>
    <p:extLst>
      <p:ext uri="{BB962C8B-B14F-4D97-AF65-F5344CB8AC3E}">
        <p14:creationId xmlns:p14="http://schemas.microsoft.com/office/powerpoint/2010/main" val="3500434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1416</TotalTime>
  <Words>539</Words>
  <Application>Microsoft Office PowerPoint</Application>
  <PresentationFormat>Widescreen</PresentationFormat>
  <Paragraphs>73</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Allianz Neo</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Allianz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Ruia, Neelesh (Allianz Technology)</dc:creator>
  <cp:lastModifiedBy>OMKAR GONDKAR</cp:lastModifiedBy>
  <cp:revision>8</cp:revision>
  <dcterms:created xsi:type="dcterms:W3CDTF">2023-11-03T06:51:04Z</dcterms:created>
  <dcterms:modified xsi:type="dcterms:W3CDTF">2026-02-02T18:20:38Z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5f591a-3248-43e9-9b70-1ad50135772d_Enabled">
    <vt:lpwstr>true</vt:lpwstr>
  </property>
  <property fmtid="{D5CDD505-2E9C-101B-9397-08002B2CF9AE}" pid="3" name="MSIP_Label_ce5f591a-3248-43e9-9b70-1ad50135772d_SetDate">
    <vt:lpwstr>2023-11-03T07:02:01Z</vt:lpwstr>
  </property>
  <property fmtid="{D5CDD505-2E9C-101B-9397-08002B2CF9AE}" pid="4" name="MSIP_Label_ce5f591a-3248-43e9-9b70-1ad50135772d_Method">
    <vt:lpwstr>Privileged</vt:lpwstr>
  </property>
  <property fmtid="{D5CDD505-2E9C-101B-9397-08002B2CF9AE}" pid="5" name="MSIP_Label_ce5f591a-3248-43e9-9b70-1ad50135772d_Name">
    <vt:lpwstr>ce5f591a-3248-43e9-9b70-1ad50135772d</vt:lpwstr>
  </property>
  <property fmtid="{D5CDD505-2E9C-101B-9397-08002B2CF9AE}" pid="6" name="MSIP_Label_ce5f591a-3248-43e9-9b70-1ad50135772d_SiteId">
    <vt:lpwstr>6e06e42d-6925-47c6-b9e7-9581c7ca302a</vt:lpwstr>
  </property>
  <property fmtid="{D5CDD505-2E9C-101B-9397-08002B2CF9AE}" pid="7" name="MSIP_Label_ce5f591a-3248-43e9-9b70-1ad50135772d_ActionId">
    <vt:lpwstr>cdcb2c44-479e-41c5-b7f2-ab039183b476</vt:lpwstr>
  </property>
  <property fmtid="{D5CDD505-2E9C-101B-9397-08002B2CF9AE}" pid="8" name="MSIP_Label_ce5f591a-3248-43e9-9b70-1ad50135772d_ContentBits">
    <vt:lpwstr>0</vt:lpwstr>
  </property>
  <property fmtid="{D5CDD505-2E9C-101B-9397-08002B2CF9AE}" pid="9" name="_AdHocReviewCycleID">
    <vt:i4>1313951151</vt:i4>
  </property>
  <property fmtid="{D5CDD505-2E9C-101B-9397-08002B2CF9AE}" pid="10" name="_NewReviewCycle">
    <vt:lpwstr/>
  </property>
  <property fmtid="{D5CDD505-2E9C-101B-9397-08002B2CF9AE}" pid="11" name="_EmailSubject">
    <vt:lpwstr>Re:[## 657494 ##] Mercer Mettl - Tech Championship 2025 | Allianz</vt:lpwstr>
  </property>
  <property fmtid="{D5CDD505-2E9C-101B-9397-08002B2CF9AE}" pid="12" name="_AuthorEmail">
    <vt:lpwstr>EXTERN.HANDE_PRAMOD@allianz.de</vt:lpwstr>
  </property>
  <property fmtid="{D5CDD505-2E9C-101B-9397-08002B2CF9AE}" pid="13" name="_AuthorEmailDisplayName">
    <vt:lpwstr>Hande, Pramod (Allianz Technology)</vt:lpwstr>
  </property>
  <property fmtid="{D5CDD505-2E9C-101B-9397-08002B2CF9AE}" pid="14" name="_PreviousAdHocReviewCycleID">
    <vt:i4>-591255179</vt:i4>
  </property>
</Properties>
</file>